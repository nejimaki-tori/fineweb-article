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5143500" cx="9144000"/>
  <p:notesSz cx="6858000" cy="9144000"/>
  <p:embeddedFontLst>
    <p:embeddedFont>
      <p:font typeface="Shantell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C55D707-6C9C-40B5-A4C7-56B1395E6188}">
  <a:tblStyle styleId="{1C55D707-6C9C-40B5-A4C7-56B1395E618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font" Target="fonts/ShantellSans-bold.fntdata"/><Relationship Id="rId21" Type="http://schemas.openxmlformats.org/officeDocument/2006/relationships/slide" Target="slides/slide15.xml"/><Relationship Id="rId43" Type="http://schemas.openxmlformats.org/officeDocument/2006/relationships/font" Target="fonts/ShantellSans-regular.fntdata"/><Relationship Id="rId24" Type="http://schemas.openxmlformats.org/officeDocument/2006/relationships/slide" Target="slides/slide18.xml"/><Relationship Id="rId46" Type="http://schemas.openxmlformats.org/officeDocument/2006/relationships/font" Target="fonts/ShantellSans-boldItalic.fntdata"/><Relationship Id="rId23" Type="http://schemas.openxmlformats.org/officeDocument/2006/relationships/slide" Target="slides/slide17.xml"/><Relationship Id="rId45" Type="http://schemas.openxmlformats.org/officeDocument/2006/relationships/font" Target="fonts/Shantell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h63f0c840cace1d4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h63f0c840cace1d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63f0c840cace1d4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h63f0c840cace1d4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h393924d6cc37d3f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h393924d6cc37d3f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85f202adc066d5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h85f202adc066d5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h85f202adc066d5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h85f202adc066d5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63f0c840cace1d4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h63f0c840cace1d4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63f0c840cace1d4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63f0c840cace1d4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63f0c840cace1d4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63f0c840cace1d4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85f202adc066d57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h85f202adc066d5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63f0c840cace1d44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h63f0c840cace1d44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h63f0c840cace1d44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h63f0c840cace1d44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h63f0c840cace1d4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h63f0c840cace1d4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h25d1c9ebd05e1a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h25d1c9ebd05e1a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h63f0c840cace1d4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h63f0c840cace1d4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h63f0c840cace1d44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h63f0c840cace1d44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h63f0c840cace1d44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h63f0c840cace1d44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h63f0c840cace1d44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h63f0c840cace1d44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h25d1c9ebd05e1ac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h25d1c9ebd05e1ac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h63f0c840cace1d44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h63f0c840cace1d44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h63f0c840cace1d44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h63f0c840cace1d44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h393924d6cc37d3f9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h393924d6cc37d3f9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h63f0c840cace1d4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h63f0c840cace1d4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h85f202adc066d5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h85f202adc066d5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h25d1c9ebd05e1ac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h25d1c9ebd05e1ac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h63f0c840cace1d44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h63f0c840cace1d44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h63f0c840cace1d44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h63f0c840cace1d44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h393924d6cc37d3f9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h393924d6cc37d3f9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h63f0c840cace1d44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h63f0c840cace1d44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h63f0c840cace1d44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h63f0c840cace1d44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h63f0c840cace1d44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h63f0c840cace1d44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h85f202adc066d5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h85f202adc066d5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h85f202adc066d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h85f202adc066d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h63f0c840cace1d44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h63f0c840cace1d44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h85f202adc066d5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h85f202adc066d5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h467221ae793c204e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h467221ae793c204e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8162" y="1999250"/>
            <a:ext cx="9107700" cy="17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Исследование методов подготовки качественных текстовых коллекций для обучения больших языковых моделей</a:t>
            </a:r>
            <a:endParaRPr sz="3200"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1261" y="0"/>
            <a:ext cx="1321475" cy="7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2268602" y="751050"/>
            <a:ext cx="4606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Московский государственный университет имени М. В. Ломоносова</a:t>
            </a:r>
            <a:endParaRPr sz="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факультет вычислительной математики и кибернетики</a:t>
            </a:r>
            <a:endParaRPr sz="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кафедра алгоритмических языков</a:t>
            </a:r>
            <a:endParaRPr sz="1000">
              <a:solidFill>
                <a:srgbClr val="000000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357538" y="1599038"/>
            <a:ext cx="442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Григорьев Денис Андреевич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072000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Москва, 2026</a:t>
            </a:r>
            <a:endParaRPr sz="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Подготовка данных </a:t>
            </a:r>
            <a:r>
              <a:rPr lang="en"/>
              <a:t>для обучения LLM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3558450"/>
            <a:ext cx="8520600" cy="7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Состав коллекции определяет, какие языки, темы и типы текстов модель встречает при обучении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696550" y="2179638"/>
            <a:ext cx="2122800" cy="769800"/>
          </a:xfrm>
          <a:prstGeom prst="rect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Сбор и отбор данных</a:t>
            </a:r>
            <a:endParaRPr sz="1600"/>
          </a:p>
        </p:txBody>
      </p:sp>
      <p:sp>
        <p:nvSpPr>
          <p:cNvPr id="66" name="Google Shape;66;p14"/>
          <p:cNvSpPr/>
          <p:nvPr/>
        </p:nvSpPr>
        <p:spPr>
          <a:xfrm>
            <a:off x="3510600" y="2179638"/>
            <a:ext cx="2122800" cy="769800"/>
          </a:xfrm>
          <a:prstGeom prst="rect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Предобучение</a:t>
            </a:r>
            <a:endParaRPr sz="1600"/>
          </a:p>
        </p:txBody>
      </p:sp>
      <p:sp>
        <p:nvSpPr>
          <p:cNvPr id="67" name="Google Shape;67;p14"/>
          <p:cNvSpPr/>
          <p:nvPr/>
        </p:nvSpPr>
        <p:spPr>
          <a:xfrm>
            <a:off x="6324650" y="2179638"/>
            <a:ext cx="2122800" cy="769800"/>
          </a:xfrm>
          <a:prstGeom prst="rect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Дообучение на инструкциях</a:t>
            </a:r>
            <a:endParaRPr sz="1600"/>
          </a:p>
        </p:txBody>
      </p:sp>
      <p:cxnSp>
        <p:nvCxnSpPr>
          <p:cNvPr id="68" name="Google Shape;68;p14"/>
          <p:cNvCxnSpPr>
            <a:stCxn id="65" idx="3"/>
            <a:endCxn id="66" idx="1"/>
          </p:cNvCxnSpPr>
          <p:nvPr/>
        </p:nvCxnSpPr>
        <p:spPr>
          <a:xfrm>
            <a:off x="2819350" y="2564538"/>
            <a:ext cx="691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" name="Google Shape;69;p14"/>
          <p:cNvCxnSpPr>
            <a:stCxn id="66" idx="3"/>
            <a:endCxn id="67" idx="1"/>
          </p:cNvCxnSpPr>
          <p:nvPr/>
        </p:nvCxnSpPr>
        <p:spPr>
          <a:xfrm>
            <a:off x="5633400" y="2564538"/>
            <a:ext cx="6912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" name="Google Shape;70;p14"/>
          <p:cNvSpPr txBox="1"/>
          <p:nvPr/>
        </p:nvSpPr>
        <p:spPr>
          <a:xfrm>
            <a:off x="696550" y="1626725"/>
            <a:ext cx="212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A86E8"/>
                </a:solidFill>
              </a:rPr>
              <a:t>Тема этой работы</a:t>
            </a:r>
            <a:endParaRPr sz="1800">
              <a:solidFill>
                <a:srgbClr val="4A86E8"/>
              </a:solidFill>
            </a:endParaRPr>
          </a:p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Состав данных обучающей коллекции</a:t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170375" y="979325"/>
            <a:ext cx="397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Llama 3:</a:t>
            </a:r>
            <a:r>
              <a:rPr lang="en" sz="1800">
                <a:solidFill>
                  <a:schemeClr val="dk1"/>
                </a:solidFill>
              </a:rPr>
              <a:t> доля токенов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4861825" y="979325"/>
            <a:ext cx="411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Qwen3:</a:t>
            </a:r>
            <a:r>
              <a:rPr lang="en" sz="1800">
                <a:solidFill>
                  <a:schemeClr val="dk1"/>
                </a:solidFill>
              </a:rPr>
              <a:t> отбор по документам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0" y="4620300"/>
            <a:ext cx="8520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Grattafiori, Aaron, et al. "The Llama 3 herd of models." (2025).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Yang, An, et al. "Qwen3 technical report." </a:t>
            </a:r>
            <a:r>
              <a:rPr i="1" lang="en" sz="1000">
                <a:solidFill>
                  <a:srgbClr val="222222"/>
                </a:solidFill>
                <a:highlight>
                  <a:srgbClr val="FFFFFF"/>
                </a:highlight>
              </a:rPr>
              <a:t>arXiv preprint arXiv:2505.09388</a:t>
            </a:r>
            <a:r>
              <a:rPr lang="en" sz="1000">
                <a:solidFill>
                  <a:srgbClr val="222222"/>
                </a:solidFill>
                <a:highlight>
                  <a:srgbClr val="FFFFFF"/>
                </a:highlight>
              </a:rPr>
              <a:t> (2025).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4861825" y="1441025"/>
            <a:ext cx="40392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</a:t>
            </a:r>
            <a:r>
              <a:rPr lang="en" sz="1700"/>
              <a:t>cience, technology, engineering, and mathematics (STEM) 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Coding 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Educational value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Safety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Подбор данных на малых моделях с помощью размеченных документов</a:t>
            </a:r>
            <a:endParaRPr sz="1700"/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50" y="1441025"/>
            <a:ext cx="4306547" cy="22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/>
        </p:nvSpPr>
        <p:spPr>
          <a:xfrm>
            <a:off x="0" y="3969513"/>
            <a:ext cx="923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Чтобы </a:t>
            </a:r>
            <a:r>
              <a:rPr b="1" lang="en"/>
              <a:t>управлять составом</a:t>
            </a:r>
            <a:r>
              <a:rPr lang="en"/>
              <a:t> обучающей </a:t>
            </a:r>
            <a:r>
              <a:rPr b="1" lang="en"/>
              <a:t>коллекции</a:t>
            </a:r>
            <a:r>
              <a:rPr lang="en"/>
              <a:t>, нужно знать </a:t>
            </a:r>
            <a:r>
              <a:rPr b="1" lang="en"/>
              <a:t>тематику </a:t>
            </a:r>
            <a:r>
              <a:rPr lang="en"/>
              <a:t>и </a:t>
            </a:r>
            <a:r>
              <a:rPr b="1" lang="en"/>
              <a:t>характеристики документов</a:t>
            </a:r>
            <a:endParaRPr b="1"/>
          </a:p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Подготовка данных Kolibri (публикация от 03.10.2026)</a:t>
            </a:r>
            <a:endParaRPr/>
          </a:p>
        </p:txBody>
      </p:sp>
      <p:sp>
        <p:nvSpPr>
          <p:cNvPr id="89" name="Google Shape;89;p16"/>
          <p:cNvSpPr txBox="1"/>
          <p:nvPr/>
        </p:nvSpPr>
        <p:spPr>
          <a:xfrm>
            <a:off x="0" y="4743300"/>
            <a:ext cx="486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https://tej.as/blog/aleph-alpha-kolibri</a:t>
            </a:r>
            <a:endParaRPr/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31400"/>
            <a:ext cx="8520601" cy="368069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 txBox="1"/>
          <p:nvPr/>
        </p:nvSpPr>
        <p:spPr>
          <a:xfrm>
            <a:off x="5739000" y="2571750"/>
            <a:ext cx="3405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Итог: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Корпус был разбит на группы по качеству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92" name="Google Shape;9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Проблема: некачественные тексты</a:t>
            </a:r>
            <a:endParaRPr/>
          </a:p>
        </p:txBody>
      </p:sp>
      <p:sp>
        <p:nvSpPr>
          <p:cNvPr id="98" name="Google Shape;98;p17"/>
          <p:cNvSpPr txBox="1"/>
          <p:nvPr/>
        </p:nvSpPr>
        <p:spPr>
          <a:xfrm>
            <a:off x="464700" y="572700"/>
            <a:ext cx="82146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Shantell Sans"/>
                <a:ea typeface="Shantell Sans"/>
                <a:cs typeface="Shantell Sans"/>
                <a:sym typeface="Shantell Sans"/>
              </a:rPr>
              <a:t>…</a:t>
            </a:r>
            <a:endParaRPr sz="20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990000"/>
                </a:solidFill>
                <a:latin typeface="Shantell Sans"/>
                <a:ea typeface="Shantell Sans"/>
                <a:cs typeface="Shantell Sans"/>
                <a:sym typeface="Shantell Sans"/>
              </a:rPr>
              <a:t>Ваш успех в ваших руках!</a:t>
            </a:r>
            <a:endParaRPr b="1" sz="2000">
              <a:solidFill>
                <a:srgbClr val="990000"/>
              </a:solidFill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990000"/>
                </a:solidFill>
                <a:latin typeface="Shantell Sans"/>
                <a:ea typeface="Shantell Sans"/>
                <a:cs typeface="Shantell Sans"/>
                <a:sym typeface="Shantell Sans"/>
              </a:rPr>
              <a:t>У нас есть все</a:t>
            </a:r>
            <a:r>
              <a:rPr lang="en" sz="2000">
                <a:latin typeface="Shantell Sans"/>
                <a:ea typeface="Shantell Sans"/>
                <a:cs typeface="Shantell Sans"/>
                <a:sym typeface="Shantell Sans"/>
              </a:rPr>
              <a:t>, чтобы вы начали продавать ваши игры, программное обеспечение и цифровой контент уже сегодня.</a:t>
            </a:r>
            <a:endParaRPr sz="20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990000"/>
                </a:solidFill>
                <a:latin typeface="Shantell Sans"/>
                <a:ea typeface="Shantell Sans"/>
                <a:cs typeface="Shantell Sans"/>
                <a:sym typeface="Shantell Sans"/>
              </a:rPr>
              <a:t>Покупайте и продавайте без тревог</a:t>
            </a:r>
            <a:r>
              <a:rPr lang="en" sz="2000">
                <a:latin typeface="Shantell Sans"/>
                <a:ea typeface="Shantell Sans"/>
                <a:cs typeface="Shantell Sans"/>
                <a:sym typeface="Shantell Sans"/>
              </a:rPr>
              <a:t> с помощью платформы электронной торговли Plimus - надежной, безопасной и соответствующей стандарту PCI. </a:t>
            </a:r>
            <a:endParaRPr sz="20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Shantell Sans"/>
                <a:ea typeface="Shantell Sans"/>
                <a:cs typeface="Shantell Sans"/>
                <a:sym typeface="Shantell Sans"/>
              </a:rPr>
              <a:t>…</a:t>
            </a:r>
            <a:endParaRPr sz="2000">
              <a:latin typeface="Shantell Sans"/>
              <a:ea typeface="Shantell Sans"/>
              <a:cs typeface="Shantell Sans"/>
              <a:sym typeface="Shantell Sans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0" y="4743300"/>
            <a:ext cx="754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https://huggingface.co/datasets/HuggingFaceFW/fineweb-2/viewer/rus_Cyrl</a:t>
            </a:r>
            <a:endParaRPr/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3200" y="2934675"/>
            <a:ext cx="3640805" cy="1808613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/>
          <p:nvPr/>
        </p:nvSpPr>
        <p:spPr>
          <a:xfrm>
            <a:off x="0" y="3612300"/>
            <a:ext cx="523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Более 20% русскоязычной коллекции </a:t>
            </a:r>
            <a:r>
              <a:rPr b="1" lang="en" sz="1800">
                <a:solidFill>
                  <a:schemeClr val="dk1"/>
                </a:solidFill>
              </a:rPr>
              <a:t>FineWeb2</a:t>
            </a:r>
            <a:r>
              <a:rPr lang="en" sz="1800">
                <a:solidFill>
                  <a:schemeClr val="dk1"/>
                </a:solidFill>
              </a:rPr>
              <a:t> состоит из некачественных текстов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2" name="Google Shape;10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Качество LLM зависит от качества обучающих данных</a:t>
            </a:r>
            <a:endParaRPr/>
          </a:p>
        </p:txBody>
      </p:sp>
      <p:pic>
        <p:nvPicPr>
          <p:cNvPr id="108" name="Google Shape;108;p18"/>
          <p:cNvPicPr preferRelativeResize="0"/>
          <p:nvPr/>
        </p:nvPicPr>
        <p:blipFill rotWithShape="1">
          <a:blip r:embed="rId3">
            <a:alphaModFix/>
          </a:blip>
          <a:srcRect b="0" l="3332" r="3323" t="0"/>
          <a:stretch/>
        </p:blipFill>
        <p:spPr>
          <a:xfrm>
            <a:off x="2515250" y="747988"/>
            <a:ext cx="6577875" cy="382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/>
        </p:nvSpPr>
        <p:spPr>
          <a:xfrm>
            <a:off x="0" y="4743300"/>
            <a:ext cx="744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https://huggingfacefw-blogpost-fineweb-v1.static.hf.space/index.html</a:t>
            </a:r>
            <a:endParaRPr/>
          </a:p>
        </p:txBody>
      </p:sp>
      <p:sp>
        <p:nvSpPr>
          <p:cNvPr id="110" name="Google Shape;110;p18"/>
          <p:cNvSpPr txBox="1"/>
          <p:nvPr/>
        </p:nvSpPr>
        <p:spPr>
          <a:xfrm>
            <a:off x="73850" y="2125350"/>
            <a:ext cx="24414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</a:rPr>
              <a:t>Модель:</a:t>
            </a:r>
            <a:r>
              <a:rPr lang="en" sz="2300">
                <a:solidFill>
                  <a:schemeClr val="dk1"/>
                </a:solidFill>
              </a:rPr>
              <a:t> </a:t>
            </a:r>
            <a:r>
              <a:rPr lang="en" sz="2300">
                <a:solidFill>
                  <a:schemeClr val="dk1"/>
                </a:solidFill>
              </a:rPr>
              <a:t>1.82B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</a:rPr>
              <a:t>Оценка:</a:t>
            </a:r>
            <a:r>
              <a:rPr lang="en" sz="2300">
                <a:solidFill>
                  <a:schemeClr val="dk1"/>
                </a:solidFill>
              </a:rPr>
              <a:t> MMLU</a:t>
            </a:r>
            <a:endParaRPr sz="2300"/>
          </a:p>
        </p:txBody>
      </p:sp>
      <p:sp>
        <p:nvSpPr>
          <p:cNvPr id="111" name="Google Shape;11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</a:t>
            </a:r>
            <a:r>
              <a:rPr lang="en"/>
              <a:t>тбор русскоязычных доменных коллекций</a:t>
            </a:r>
            <a:endParaRPr/>
          </a:p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200100" y="687150"/>
            <a:ext cx="8743800" cy="37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Постановка задачи: </a:t>
            </a:r>
            <a:r>
              <a:rPr lang="en" sz="2100">
                <a:solidFill>
                  <a:schemeClr val="dk1"/>
                </a:solidFill>
              </a:rPr>
              <a:t>Автоматически формировать коллекции заданной предметной области на основе русскоязычного веб-корпуса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Вход: </a:t>
            </a:r>
            <a:r>
              <a:rPr lang="en" sz="2100">
                <a:solidFill>
                  <a:schemeClr val="dk1"/>
                </a:solidFill>
              </a:rPr>
              <a:t>Русскоязычные тексты (например, rus_Cyrl FineWeb2)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Обработка:</a:t>
            </a:r>
            <a:r>
              <a:rPr lang="en" sz="2100">
                <a:solidFill>
                  <a:schemeClr val="dk1"/>
                </a:solidFill>
              </a:rPr>
              <a:t> Тематические теги; образовательная ценность; риск вредного содержания; языковое качество; надёжность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Выход:</a:t>
            </a:r>
            <a:r>
              <a:rPr lang="en" sz="2100">
                <a:solidFill>
                  <a:schemeClr val="dk1"/>
                </a:solidFill>
              </a:rPr>
              <a:t> Доменная коллекция с заданными условиями отбора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118" name="Google Shape;11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Существующие веб-корпуса</a:t>
            </a:r>
            <a:endParaRPr/>
          </a:p>
        </p:txBody>
      </p:sp>
      <p:sp>
        <p:nvSpPr>
          <p:cNvPr id="124" name="Google Shape;124;p20"/>
          <p:cNvSpPr txBox="1"/>
          <p:nvPr/>
        </p:nvSpPr>
        <p:spPr>
          <a:xfrm>
            <a:off x="311700" y="1017725"/>
            <a:ext cx="8520600" cy="3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</a:rPr>
              <a:t>FineWeb</a:t>
            </a:r>
            <a:r>
              <a:rPr b="1" lang="en" sz="2400">
                <a:solidFill>
                  <a:schemeClr val="dk1"/>
                </a:solidFill>
              </a:rPr>
              <a:t>:</a:t>
            </a:r>
            <a:r>
              <a:rPr lang="en" sz="2400">
                <a:solidFill>
                  <a:schemeClr val="dk1"/>
                </a:solidFill>
              </a:rPr>
              <a:t> 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В</a:t>
            </a:r>
            <a:r>
              <a:rPr lang="en" sz="2000">
                <a:solidFill>
                  <a:schemeClr val="dk1"/>
                </a:solidFill>
              </a:rPr>
              <a:t>еб-данные после очистки </a:t>
            </a:r>
            <a:r>
              <a:rPr b="1" lang="en" sz="2000">
                <a:solidFill>
                  <a:schemeClr val="dk1"/>
                </a:solidFill>
              </a:rPr>
              <a:t>(отсутствует русский язык)</a:t>
            </a:r>
            <a:endParaRPr b="1"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</a:rPr>
              <a:t>FineWeb-Edu:</a:t>
            </a:r>
            <a:r>
              <a:rPr lang="en" sz="2000">
                <a:solidFill>
                  <a:schemeClr val="dk1"/>
                </a:solidFill>
              </a:rPr>
              <a:t> 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Подвыборка FineWeb с высокой образовательной ценностью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(отсутствует русский язык)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</a:rPr>
              <a:t>FineWeb2:</a:t>
            </a:r>
            <a:r>
              <a:rPr lang="en" sz="2000">
                <a:solidFill>
                  <a:schemeClr val="dk1"/>
                </a:solidFill>
              </a:rPr>
              <a:t> 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Многоязычный веб-корпус, </a:t>
            </a:r>
            <a:r>
              <a:rPr b="1" lang="en" sz="2000">
                <a:solidFill>
                  <a:schemeClr val="dk1"/>
                </a:solidFill>
              </a:rPr>
              <a:t>включающий русский язык</a:t>
            </a:r>
            <a:r>
              <a:rPr lang="en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Нет тематических меток и оценок отдельных документов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FineWeb2 служит основой для дальнейшего отбора.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25" name="Google Shape;12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Исходная коллекция</a:t>
            </a:r>
            <a:endParaRPr/>
          </a:p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179400" y="3989100"/>
            <a:ext cx="8964600" cy="11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Русскоязычный раздел </a:t>
            </a:r>
            <a:r>
              <a:rPr b="1" lang="en">
                <a:solidFill>
                  <a:schemeClr val="dk1"/>
                </a:solidFill>
              </a:rPr>
              <a:t>rus_Cyrl</a:t>
            </a:r>
            <a:r>
              <a:rPr lang="en">
                <a:solidFill>
                  <a:schemeClr val="dk1"/>
                </a:solidFill>
              </a:rPr>
              <a:t> корпуса </a:t>
            </a:r>
            <a:r>
              <a:rPr b="1" lang="en">
                <a:solidFill>
                  <a:schemeClr val="dk1"/>
                </a:solidFill>
              </a:rPr>
              <a:t>FineWeb2</a:t>
            </a:r>
            <a:r>
              <a:rPr lang="en">
                <a:solidFill>
                  <a:schemeClr val="dk1"/>
                </a:solidFill>
              </a:rPr>
              <a:t> группировался по веб-источникам.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Сохранялось не более 10 различных документов на один веб-источник.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2" name="Google Shape;13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0113" y="572700"/>
            <a:ext cx="6703780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Карточка FineWeb2🥂</a:t>
            </a:r>
            <a:endParaRPr/>
          </a:p>
        </p:txBody>
      </p:sp>
      <p:pic>
        <p:nvPicPr>
          <p:cNvPr id="139" name="Google Shape;139;p22"/>
          <p:cNvPicPr preferRelativeResize="0"/>
          <p:nvPr/>
        </p:nvPicPr>
        <p:blipFill rotWithShape="1">
          <a:blip r:embed="rId3">
            <a:alphaModFix/>
          </a:blip>
          <a:srcRect b="9445" l="0" r="3874" t="0"/>
          <a:stretch/>
        </p:blipFill>
        <p:spPr>
          <a:xfrm>
            <a:off x="74300" y="719375"/>
            <a:ext cx="8995402" cy="3452224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2"/>
          <p:cNvSpPr txBox="1"/>
          <p:nvPr/>
        </p:nvSpPr>
        <p:spPr>
          <a:xfrm>
            <a:off x="0" y="4743300"/>
            <a:ext cx="822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https://huggingface.co/datasets/HuggingFaceFW/fineweb-2/viewer/rus_Cyrl</a:t>
            </a:r>
            <a:endParaRPr/>
          </a:p>
        </p:txBody>
      </p:sp>
      <p:sp>
        <p:nvSpPr>
          <p:cNvPr id="141" name="Google Shape;14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Предварительная оценка образовательной ценности</a:t>
            </a:r>
            <a:endParaRPr/>
          </a:p>
        </p:txBody>
      </p:sp>
      <p:sp>
        <p:nvSpPr>
          <p:cNvPr id="147" name="Google Shape;147;p23"/>
          <p:cNvSpPr txBox="1"/>
          <p:nvPr>
            <p:ph idx="1" type="body"/>
          </p:nvPr>
        </p:nvSpPr>
        <p:spPr>
          <a:xfrm>
            <a:off x="0" y="929975"/>
            <a:ext cx="9071400" cy="5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Низкая образовательная ценность, полученная модельной оценкой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148" name="Google Shape;14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375" y="1625500"/>
            <a:ext cx="6257699" cy="264697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3"/>
          <p:cNvSpPr txBox="1"/>
          <p:nvPr/>
        </p:nvSpPr>
        <p:spPr>
          <a:xfrm>
            <a:off x="6352075" y="2527313"/>
            <a:ext cx="2791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</a:rPr>
              <a:t>47.5%</a:t>
            </a:r>
            <a:r>
              <a:rPr b="1" lang="en" sz="2000">
                <a:solidFill>
                  <a:schemeClr val="dk1"/>
                </a:solidFill>
              </a:rPr>
              <a:t> 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документов получили оценку ниже 0.1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0" y="4574275"/>
            <a:ext cx="9144000" cy="5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Классификаторы могут помочь выделить множество некачественных текстов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151" name="Google Shape;151;p23"/>
          <p:cNvSpPr txBox="1"/>
          <p:nvPr/>
        </p:nvSpPr>
        <p:spPr>
          <a:xfrm>
            <a:off x="1136875" y="4272475"/>
            <a:ext cx="417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Оценка классификатора образовательной ценности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52" name="Google Shape;15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Схема разметки подмножества FineWeb2</a:t>
            </a:r>
            <a:endParaRPr/>
          </a:p>
        </p:txBody>
      </p:sp>
      <p:pic>
        <p:nvPicPr>
          <p:cNvPr id="158" name="Google Shape;15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25" y="572700"/>
            <a:ext cx="9100273" cy="450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Первичная тематическая разметка</a:t>
            </a:r>
            <a:endParaRPr/>
          </a:p>
        </p:txBody>
      </p:sp>
      <p:sp>
        <p:nvSpPr>
          <p:cNvPr id="165" name="Google Shape;165;p25"/>
          <p:cNvSpPr txBox="1"/>
          <p:nvPr>
            <p:ph idx="1" type="body"/>
          </p:nvPr>
        </p:nvSpPr>
        <p:spPr>
          <a:xfrm>
            <a:off x="0" y="572700"/>
            <a:ext cx="77748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Модель:</a:t>
            </a:r>
            <a:r>
              <a:rPr lang="en" sz="1900">
                <a:solidFill>
                  <a:schemeClr val="dk1"/>
                </a:solidFill>
              </a:rPr>
              <a:t> Qwen3-235B-A22B-Instruct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Размечено примерно 100 000 текстов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Каждый текст получает 5 свободных тегов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Результат: около 170 000 уникальных тегов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166" name="Google Shape;166;p25"/>
          <p:cNvSpPr txBox="1"/>
          <p:nvPr/>
        </p:nvSpPr>
        <p:spPr>
          <a:xfrm>
            <a:off x="4858950" y="3116450"/>
            <a:ext cx="4259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Shantell Sans"/>
                <a:ea typeface="Shantell Sans"/>
                <a:cs typeface="Shantell Sans"/>
                <a:sym typeface="Shantell Sans"/>
              </a:rPr>
              <a:t>'#белорусская_литература', '#национальная_культура', '#историческая_проза'</a:t>
            </a:r>
            <a:endParaRPr sz="21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Shantell Sans"/>
                <a:ea typeface="Shantell Sans"/>
                <a:cs typeface="Shantell Sans"/>
                <a:sym typeface="Shantell Sans"/>
              </a:rPr>
              <a:t>…</a:t>
            </a:r>
            <a:endParaRPr sz="2100">
              <a:latin typeface="Shantell Sans"/>
              <a:ea typeface="Shantell Sans"/>
              <a:cs typeface="Shantell Sans"/>
              <a:sym typeface="Shantell Sans"/>
            </a:endParaRPr>
          </a:p>
        </p:txBody>
      </p:sp>
      <p:sp>
        <p:nvSpPr>
          <p:cNvPr id="167" name="Google Shape;167;p25"/>
          <p:cNvSpPr txBox="1"/>
          <p:nvPr/>
        </p:nvSpPr>
        <p:spPr>
          <a:xfrm>
            <a:off x="25350" y="2993300"/>
            <a:ext cx="4833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Shantell Sans"/>
                <a:ea typeface="Shantell Sans"/>
                <a:cs typeface="Shantell Sans"/>
                <a:sym typeface="Shantell Sans"/>
              </a:rPr>
              <a:t>Белорусская литература</a:t>
            </a:r>
            <a:r>
              <a:rPr lang="en" sz="2000">
                <a:latin typeface="Shantell Sans"/>
                <a:ea typeface="Shantell Sans"/>
                <a:cs typeface="Shantell Sans"/>
                <a:sym typeface="Shantell Sans"/>
              </a:rPr>
              <a:t> – многогранная и неотъемлемая часть … В ней отражены ход </a:t>
            </a:r>
            <a:r>
              <a:rPr b="1" lang="en" sz="2000">
                <a:latin typeface="Shantell Sans"/>
                <a:ea typeface="Shantell Sans"/>
                <a:cs typeface="Shantell Sans"/>
                <a:sym typeface="Shantell Sans"/>
              </a:rPr>
              <a:t>исторических событий</a:t>
            </a:r>
            <a:r>
              <a:rPr lang="en" sz="2000">
                <a:latin typeface="Shantell Sans"/>
                <a:ea typeface="Shantell Sans"/>
                <a:cs typeface="Shantell Sans"/>
                <a:sym typeface="Shantell Sans"/>
              </a:rPr>
              <a:t> и самобытность нашего </a:t>
            </a:r>
            <a:r>
              <a:rPr b="1" lang="en" sz="2000">
                <a:latin typeface="Shantell Sans"/>
                <a:ea typeface="Shantell Sans"/>
                <a:cs typeface="Shantell Sans"/>
                <a:sym typeface="Shantell Sans"/>
              </a:rPr>
              <a:t>народа</a:t>
            </a:r>
            <a:r>
              <a:rPr lang="en" sz="2000">
                <a:latin typeface="Shantell Sans"/>
                <a:ea typeface="Shantell Sans"/>
                <a:cs typeface="Shantell Sans"/>
                <a:sym typeface="Shantell Sans"/>
              </a:rPr>
              <a:t>, а благодаря таланту …</a:t>
            </a:r>
            <a:endParaRPr sz="2000">
              <a:latin typeface="Shantell Sans"/>
              <a:ea typeface="Shantell Sans"/>
              <a:cs typeface="Shantell Sans"/>
              <a:sym typeface="Shantell Sans"/>
            </a:endParaRPr>
          </a:p>
        </p:txBody>
      </p:sp>
      <p:sp>
        <p:nvSpPr>
          <p:cNvPr id="168" name="Google Shape;168;p25"/>
          <p:cNvSpPr txBox="1"/>
          <p:nvPr/>
        </p:nvSpPr>
        <p:spPr>
          <a:xfrm>
            <a:off x="25350" y="2516300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Пример:</a:t>
            </a:r>
            <a:endParaRPr/>
          </a:p>
        </p:txBody>
      </p:sp>
      <p:sp>
        <p:nvSpPr>
          <p:cNvPr id="169" name="Google Shape;16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Примеры п</a:t>
            </a:r>
            <a:r>
              <a:rPr lang="en"/>
              <a:t>ромпт</a:t>
            </a:r>
            <a:r>
              <a:rPr lang="en"/>
              <a:t>ов</a:t>
            </a:r>
            <a:r>
              <a:rPr lang="en"/>
              <a:t> (проставление тегов)</a:t>
            </a:r>
            <a:endParaRPr/>
          </a:p>
        </p:txBody>
      </p:sp>
      <p:sp>
        <p:nvSpPr>
          <p:cNvPr id="175" name="Google Shape;175;p26"/>
          <p:cNvSpPr txBox="1"/>
          <p:nvPr/>
        </p:nvSpPr>
        <p:spPr>
          <a:xfrm>
            <a:off x="0" y="572700"/>
            <a:ext cx="9035100" cy="46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u="sng">
                <a:solidFill>
                  <a:schemeClr val="dk1"/>
                </a:solidFill>
                <a:latin typeface="Shantell Sans"/>
                <a:ea typeface="Shantell Sans"/>
                <a:cs typeface="Shantell Sans"/>
                <a:sym typeface="Shantell Sans"/>
              </a:rPr>
              <a:t>Ты - эксперт по тематической классификации текстов.</a:t>
            </a:r>
            <a:endParaRPr sz="1700" u="sng">
              <a:solidFill>
                <a:schemeClr val="dk1"/>
              </a:solidFill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Shantell Sans"/>
                <a:ea typeface="Shantell Sans"/>
                <a:cs typeface="Shantell Sans"/>
                <a:sym typeface="Shantell Sans"/>
              </a:rPr>
              <a:t>Твоя задача: </a:t>
            </a: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по одному </a:t>
            </a: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представленному</a:t>
            </a: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 тексту вернуть СТРОГО JSON</a:t>
            </a:r>
            <a:endParaRPr sz="17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с </a:t>
            </a:r>
            <a:r>
              <a:rPr b="1" lang="en" sz="1700">
                <a:latin typeface="Shantell Sans"/>
                <a:ea typeface="Shantell Sans"/>
                <a:cs typeface="Shantell Sans"/>
                <a:sym typeface="Shantell Sans"/>
              </a:rPr>
              <a:t>топ-5 хэштегами</a:t>
            </a: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, которые лучше всего </a:t>
            </a:r>
            <a:r>
              <a:rPr b="1" lang="en" sz="1700">
                <a:latin typeface="Shantell Sans"/>
                <a:ea typeface="Shantell Sans"/>
                <a:cs typeface="Shantell Sans"/>
                <a:sym typeface="Shantell Sans"/>
              </a:rPr>
              <a:t>описывают предметные области</a:t>
            </a: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 и </a:t>
            </a:r>
            <a:r>
              <a:rPr b="1" lang="en" sz="1700">
                <a:latin typeface="Shantell Sans"/>
                <a:ea typeface="Shantell Sans"/>
                <a:cs typeface="Shantell Sans"/>
                <a:sym typeface="Shantell Sans"/>
              </a:rPr>
              <a:t>тип содержимого</a:t>
            </a: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 этого текста.</a:t>
            </a:r>
            <a:endParaRPr sz="17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…</a:t>
            </a:r>
            <a:endParaRPr sz="17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- </a:t>
            </a:r>
            <a:r>
              <a:rPr b="1" lang="en" sz="1700">
                <a:latin typeface="Shantell Sans"/>
                <a:ea typeface="Shantell Sans"/>
                <a:cs typeface="Shantell Sans"/>
                <a:sym typeface="Shantell Sans"/>
              </a:rPr>
              <a:t>Не используй внешние знания о сайте</a:t>
            </a: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, бренде, домене, стране, авторах или репутации ресурса.</a:t>
            </a:r>
            <a:endParaRPr sz="17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- Хэштеги должны описывать именно </a:t>
            </a:r>
            <a:r>
              <a:rPr b="1" lang="en" sz="1700">
                <a:latin typeface="Shantell Sans"/>
                <a:ea typeface="Shantell Sans"/>
                <a:cs typeface="Shantell Sans"/>
                <a:sym typeface="Shantell Sans"/>
              </a:rPr>
              <a:t>предметные области, темы и тип содержимого.</a:t>
            </a:r>
            <a:endParaRPr b="1" sz="17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- </a:t>
            </a:r>
            <a:r>
              <a:rPr b="1" lang="en" sz="1700">
                <a:latin typeface="Shantell Sans"/>
                <a:ea typeface="Shantell Sans"/>
                <a:cs typeface="Shantell Sans"/>
                <a:sym typeface="Shantell Sans"/>
              </a:rPr>
              <a:t>Не используй слишком общие теги</a:t>
            </a: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 вроде #сайт, #текст, #информация, если можно дать более конкретные.</a:t>
            </a:r>
            <a:endParaRPr sz="17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…</a:t>
            </a:r>
            <a:endParaRPr sz="17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"reasoning": </a:t>
            </a: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"string"</a:t>
            </a: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,</a:t>
            </a:r>
            <a:endParaRPr sz="17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"tags": ["#tag_1", "#tag_2", "#tag_3", "#tag_4", "#tag_5"]</a:t>
            </a:r>
            <a:endParaRPr sz="1700">
              <a:latin typeface="Shantell Sans"/>
              <a:ea typeface="Shantell Sans"/>
              <a:cs typeface="Shantell Sans"/>
              <a:sym typeface="Shantell Sans"/>
            </a:endParaRPr>
          </a:p>
        </p:txBody>
      </p:sp>
      <p:sp>
        <p:nvSpPr>
          <p:cNvPr id="176" name="Google Shape;17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Кластеризация тегов</a:t>
            </a:r>
            <a:endParaRPr/>
          </a:p>
        </p:txBody>
      </p:sp>
      <p:sp>
        <p:nvSpPr>
          <p:cNvPr id="182" name="Google Shape;182;p27"/>
          <p:cNvSpPr txBox="1"/>
          <p:nvPr>
            <p:ph idx="1" type="body"/>
          </p:nvPr>
        </p:nvSpPr>
        <p:spPr>
          <a:xfrm>
            <a:off x="36200" y="793575"/>
            <a:ext cx="3715500" cy="7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Цель:</a:t>
            </a:r>
            <a:r>
              <a:rPr lang="en">
                <a:solidFill>
                  <a:schemeClr val="dk1"/>
                </a:solidFill>
              </a:rPr>
              <a:t> уменьшить количество тегов и объединить похожие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83" name="Google Shape;18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5500" y="70300"/>
            <a:ext cx="5428500" cy="461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7"/>
          <p:cNvSpPr txBox="1"/>
          <p:nvPr/>
        </p:nvSpPr>
        <p:spPr>
          <a:xfrm>
            <a:off x="36200" y="1726950"/>
            <a:ext cx="37155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Ключевые моменты: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П</a:t>
            </a:r>
            <a:r>
              <a:rPr lang="en" sz="1600">
                <a:solidFill>
                  <a:schemeClr val="dk1"/>
                </a:solidFill>
              </a:rPr>
              <a:t>ри достижении определенного размера делить на кластеры меньше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Присоединить </a:t>
            </a:r>
            <a:r>
              <a:rPr lang="en" sz="1600">
                <a:solidFill>
                  <a:schemeClr val="dk1"/>
                </a:solidFill>
              </a:rPr>
              <a:t>малочастотные кластеры к ближайшим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700">
                <a:solidFill>
                  <a:schemeClr val="dk1"/>
                </a:solidFill>
              </a:rPr>
              <a:t>Метка кластера получена LLM по 10 репрезентативным тегам 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0" y="4681800"/>
            <a:ext cx="644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Итог:</a:t>
            </a:r>
            <a:r>
              <a:rPr lang="en" sz="1800">
                <a:solidFill>
                  <a:schemeClr val="dk1"/>
                </a:solidFill>
              </a:rPr>
              <a:t> 170 000 тегов =&gt; 788 тематических классов</a:t>
            </a:r>
            <a:endParaRPr/>
          </a:p>
        </p:txBody>
      </p:sp>
      <p:sp>
        <p:nvSpPr>
          <p:cNvPr id="186" name="Google Shape;18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Пример кластера</a:t>
            </a:r>
            <a:endParaRPr/>
          </a:p>
        </p:txBody>
      </p:sp>
      <p:sp>
        <p:nvSpPr>
          <p:cNvPr id="192" name="Google Shape;192;p28"/>
          <p:cNvSpPr txBox="1"/>
          <p:nvPr/>
        </p:nvSpPr>
        <p:spPr>
          <a:xfrm>
            <a:off x="0" y="963950"/>
            <a:ext cx="46089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Размер кластера: </a:t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Shantell Sans"/>
                <a:ea typeface="Shantell Sans"/>
                <a:cs typeface="Shantell Sans"/>
                <a:sym typeface="Shantell Sans"/>
              </a:rPr>
              <a:t>363 тега</a:t>
            </a:r>
            <a:endParaRPr sz="19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Суммарное число вхождений тегов</a:t>
            </a:r>
            <a:r>
              <a:rPr b="1" lang="en" sz="1900"/>
              <a:t>: </a:t>
            </a:r>
            <a:r>
              <a:rPr lang="en" sz="1900">
                <a:latin typeface="Shantell Sans"/>
                <a:ea typeface="Shantell Sans"/>
                <a:cs typeface="Shantell Sans"/>
                <a:sym typeface="Shantell Sans"/>
              </a:rPr>
              <a:t>3607</a:t>
            </a:r>
            <a:endParaRPr sz="19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Ближайший к центру кластера: </a:t>
            </a:r>
            <a:r>
              <a:rPr lang="en" sz="1900">
                <a:latin typeface="Shantell Sans"/>
                <a:ea typeface="Shantell Sans"/>
                <a:cs typeface="Shantell Sans"/>
                <a:sym typeface="Shantell Sans"/>
              </a:rPr>
              <a:t>#интернет_магазины</a:t>
            </a:r>
            <a:r>
              <a:rPr lang="en" sz="1900">
                <a:latin typeface="Shantell Sans"/>
                <a:ea typeface="Shantell Sans"/>
                <a:cs typeface="Shantell Sans"/>
                <a:sym typeface="Shantell Sans"/>
              </a:rPr>
              <a:t> </a:t>
            </a:r>
            <a:endParaRPr sz="19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Наиболее частый тег: </a:t>
            </a:r>
            <a:r>
              <a:rPr lang="en" sz="1900">
                <a:latin typeface="Shantell Sans"/>
                <a:ea typeface="Shantell Sans"/>
                <a:cs typeface="Shantell Sans"/>
                <a:sym typeface="Shantell Sans"/>
              </a:rPr>
              <a:t>#интернет_магазин</a:t>
            </a:r>
            <a:endParaRPr sz="19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Метка кластера от LLM: </a:t>
            </a:r>
            <a:r>
              <a:rPr lang="en" sz="1900">
                <a:latin typeface="Shantell Sans"/>
                <a:ea typeface="Shantell Sans"/>
                <a:cs typeface="Shantell Sans"/>
                <a:sym typeface="Shantell Sans"/>
              </a:rPr>
              <a:t>#онлайн_магазины</a:t>
            </a:r>
            <a:endParaRPr sz="1900">
              <a:latin typeface="Shantell Sans"/>
              <a:ea typeface="Shantell Sans"/>
              <a:cs typeface="Shantell Sans"/>
              <a:sym typeface="Shantell Sans"/>
            </a:endParaRPr>
          </a:p>
        </p:txBody>
      </p:sp>
      <p:sp>
        <p:nvSpPr>
          <p:cNvPr id="193" name="Google Shape;193;p28"/>
          <p:cNvSpPr txBox="1"/>
          <p:nvPr/>
        </p:nvSpPr>
        <p:spPr>
          <a:xfrm>
            <a:off x="4608875" y="963950"/>
            <a:ext cx="45573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Наиболее близкие к центру: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Shantell Sans"/>
                <a:ea typeface="Shantell Sans"/>
                <a:cs typeface="Shantell Sans"/>
                <a:sym typeface="Shantell Sans"/>
              </a:rPr>
              <a:t>0 - "#интернет_магазины"</a:t>
            </a:r>
            <a:endParaRPr sz="1900">
              <a:solidFill>
                <a:schemeClr val="dk1"/>
              </a:solidFill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Shantell Sans"/>
                <a:ea typeface="Shantell Sans"/>
                <a:cs typeface="Shantell Sans"/>
                <a:sym typeface="Shantell Sans"/>
              </a:rPr>
              <a:t>1 - "#интернет_шопинг"</a:t>
            </a:r>
            <a:endParaRPr sz="1900">
              <a:solidFill>
                <a:schemeClr val="dk1"/>
              </a:solidFill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Shantell Sans"/>
                <a:ea typeface="Shantell Sans"/>
                <a:cs typeface="Shantell Sans"/>
                <a:sym typeface="Shantell Sans"/>
              </a:rPr>
              <a:t>2 - "#онлайн_магазины"</a:t>
            </a:r>
            <a:endParaRPr sz="1900">
              <a:solidFill>
                <a:schemeClr val="dk1"/>
              </a:solidFill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Shantell Sans"/>
                <a:ea typeface="Shantell Sans"/>
                <a:cs typeface="Shantell Sans"/>
                <a:sym typeface="Shantell Sans"/>
              </a:rPr>
              <a:t>3 - "#магазин"</a:t>
            </a:r>
            <a:endParaRPr sz="1900">
              <a:solidFill>
                <a:schemeClr val="dk1"/>
              </a:solidFill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Shantell Sans"/>
                <a:ea typeface="Shantell Sans"/>
                <a:cs typeface="Shantell Sans"/>
                <a:sym typeface="Shantell Sans"/>
              </a:rPr>
              <a:t>4 - "#магазины"</a:t>
            </a:r>
            <a:endParaRPr sz="1900">
              <a:solidFill>
                <a:schemeClr val="dk1"/>
              </a:solidFill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Shantell Sans"/>
                <a:ea typeface="Shantell Sans"/>
                <a:cs typeface="Shantell Sans"/>
                <a:sym typeface="Shantell Sans"/>
              </a:rPr>
              <a:t>5 - "#интернет_магазин"</a:t>
            </a:r>
            <a:endParaRPr sz="1900">
              <a:solidFill>
                <a:schemeClr val="dk1"/>
              </a:solidFill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Shantell Sans"/>
                <a:ea typeface="Shantell Sans"/>
                <a:cs typeface="Shantell Sans"/>
                <a:sym typeface="Shantell Sans"/>
              </a:rPr>
              <a:t>6 - "#интернет_магазин_товаров"</a:t>
            </a:r>
            <a:endParaRPr sz="1900">
              <a:solidFill>
                <a:schemeClr val="dk1"/>
              </a:solidFill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Shantell Sans"/>
                <a:ea typeface="Shantell Sans"/>
                <a:cs typeface="Shantell Sans"/>
                <a:sym typeface="Shantell Sans"/>
              </a:rPr>
              <a:t>7 - "#онлайн_магазин"</a:t>
            </a:r>
            <a:endParaRPr sz="1900">
              <a:solidFill>
                <a:schemeClr val="dk1"/>
              </a:solidFill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Shantell Sans"/>
                <a:ea typeface="Shantell Sans"/>
                <a:cs typeface="Shantell Sans"/>
                <a:sym typeface="Shantell Sans"/>
              </a:rPr>
              <a:t>8 - "#оптовый_магазин"</a:t>
            </a:r>
            <a:endParaRPr sz="1900">
              <a:solidFill>
                <a:schemeClr val="dk1"/>
              </a:solidFill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Shantell Sans"/>
                <a:ea typeface="Shantell Sans"/>
                <a:cs typeface="Shantell Sans"/>
                <a:sym typeface="Shantell Sans"/>
              </a:rPr>
              <a:t>9 - "#онлайн_шопинг"</a:t>
            </a:r>
            <a:endParaRPr sz="1900">
              <a:latin typeface="Shantell Sans"/>
              <a:ea typeface="Shantell Sans"/>
              <a:cs typeface="Shantell Sans"/>
              <a:sym typeface="Shantell Sans"/>
            </a:endParaRPr>
          </a:p>
        </p:txBody>
      </p:sp>
      <p:sp>
        <p:nvSpPr>
          <p:cNvPr id="194" name="Google Shape;19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Тематический теггер</a:t>
            </a:r>
            <a:endParaRPr/>
          </a:p>
        </p:txBody>
      </p:sp>
      <p:sp>
        <p:nvSpPr>
          <p:cNvPr id="200" name="Google Shape;200;p29"/>
          <p:cNvSpPr txBox="1"/>
          <p:nvPr/>
        </p:nvSpPr>
        <p:spPr>
          <a:xfrm>
            <a:off x="197050" y="1017725"/>
            <a:ext cx="43749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Модель</a:t>
            </a:r>
            <a:r>
              <a:rPr b="1" lang="en" sz="1900"/>
              <a:t>: </a:t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RuModernBERT от VK.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Вход: </a:t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текст документа.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Выход: </a:t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788 оценок принадлежности к темам.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111827"/>
                </a:solidFill>
              </a:rPr>
              <a:t>Несколько тегов у одного документа</a:t>
            </a:r>
            <a:endParaRPr sz="1900"/>
          </a:p>
        </p:txBody>
      </p:sp>
      <p:pic>
        <p:nvPicPr>
          <p:cNvPr id="201" name="Google Shape;201;p29"/>
          <p:cNvPicPr preferRelativeResize="0"/>
          <p:nvPr/>
        </p:nvPicPr>
        <p:blipFill rotWithShape="1">
          <a:blip r:embed="rId3">
            <a:alphaModFix/>
          </a:blip>
          <a:srcRect b="0" l="17189" r="16033" t="10810"/>
          <a:stretch/>
        </p:blipFill>
        <p:spPr>
          <a:xfrm>
            <a:off x="4947900" y="680175"/>
            <a:ext cx="3681599" cy="293354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9"/>
          <p:cNvSpPr txBox="1"/>
          <p:nvPr/>
        </p:nvSpPr>
        <p:spPr>
          <a:xfrm>
            <a:off x="5058775" y="3613725"/>
            <a:ext cx="368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Подбор порога для top-3 тегов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03" name="Google Shape;203;p29"/>
          <p:cNvSpPr/>
          <p:nvPr/>
        </p:nvSpPr>
        <p:spPr>
          <a:xfrm>
            <a:off x="5217400" y="1900925"/>
            <a:ext cx="3296100" cy="25350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9"/>
          <p:cNvSpPr txBox="1"/>
          <p:nvPr/>
        </p:nvSpPr>
        <p:spPr>
          <a:xfrm>
            <a:off x="197050" y="4556925"/>
            <a:ext cx="7289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Порог </a:t>
            </a:r>
            <a:r>
              <a:rPr b="1" lang="en" sz="1900">
                <a:solidFill>
                  <a:schemeClr val="dk1"/>
                </a:solidFill>
              </a:rPr>
              <a:t>0,25</a:t>
            </a:r>
            <a:r>
              <a:rPr lang="en" sz="1900">
                <a:solidFill>
                  <a:schemeClr val="dk1"/>
                </a:solidFill>
              </a:rPr>
              <a:t> даёт наибольший F1 в показанном эксперименте</a:t>
            </a:r>
            <a:endParaRPr/>
          </a:p>
        </p:txBody>
      </p:sp>
      <p:sp>
        <p:nvSpPr>
          <p:cNvPr id="205" name="Google Shape;20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Дополнительные характеристики документов</a:t>
            </a:r>
            <a:endParaRPr/>
          </a:p>
        </p:txBody>
      </p:sp>
      <p:graphicFrame>
        <p:nvGraphicFramePr>
          <p:cNvPr id="211" name="Google Shape;211;p30"/>
          <p:cNvGraphicFramePr/>
          <p:nvPr/>
        </p:nvGraphicFramePr>
        <p:xfrm>
          <a:off x="3227175" y="139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{1C55D707-6C9C-40B5-A4C7-56B1395E6188}</a:tableStyleId>
              </a:tblPr>
              <a:tblGrid>
                <a:gridCol w="2827925"/>
                <a:gridCol w="2827925"/>
              </a:tblGrid>
              <a:tr h="601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Признак</a:t>
                      </a:r>
                      <a:endParaRPr b="1" sz="17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Описание</a:t>
                      </a:r>
                      <a:endParaRPr b="1" sz="17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Образовательная ценность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Насколько текст помогает получать знания или осваивать навык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Вредоносный контент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Выраженность потенциально вредного содержания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Качество языка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Связность, грамотность и качество языка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Надежность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Предполагаемую информационную надежность по содержанию текста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2" name="Google Shape;212;p30"/>
          <p:cNvSpPr txBox="1"/>
          <p:nvPr/>
        </p:nvSpPr>
        <p:spPr>
          <a:xfrm>
            <a:off x="0" y="1165250"/>
            <a:ext cx="3000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Исходная шкала LLM:</a:t>
            </a:r>
            <a:r>
              <a:rPr lang="en" sz="1600"/>
              <a:t> 0–5.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Размер обучающей коллекции:</a:t>
            </a:r>
            <a:r>
              <a:rPr lang="en" sz="1600"/>
              <a:t> около 100 тыс. текстов.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Максимальная длина входа: </a:t>
            </a:r>
            <a:r>
              <a:rPr lang="en" sz="1600"/>
              <a:t>8192 токена.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Компактная модель предсказывает непрерывную оценку [0, 1].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Она же переводится в дискретные значения 0-5.</a:t>
            </a:r>
            <a:endParaRPr sz="1600"/>
          </a:p>
        </p:txBody>
      </p:sp>
      <p:sp>
        <p:nvSpPr>
          <p:cNvPr id="213" name="Google Shape;21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Примеры промптов (доп. характеристики)</a:t>
            </a:r>
            <a:endParaRPr/>
          </a:p>
        </p:txBody>
      </p:sp>
      <p:sp>
        <p:nvSpPr>
          <p:cNvPr id="219" name="Google Shape;219;p31"/>
          <p:cNvSpPr txBox="1"/>
          <p:nvPr/>
        </p:nvSpPr>
        <p:spPr>
          <a:xfrm>
            <a:off x="50900" y="772200"/>
            <a:ext cx="46632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Shantell Sans"/>
                <a:ea typeface="Shantell Sans"/>
                <a:cs typeface="Shantell Sans"/>
                <a:sym typeface="Shantell Sans"/>
              </a:rPr>
              <a:t>Educational value  </a:t>
            </a:r>
            <a:r>
              <a:rPr lang="en" sz="1700">
                <a:solidFill>
                  <a:schemeClr val="dk1"/>
                </a:solidFill>
                <a:latin typeface="Shantell Sans"/>
                <a:ea typeface="Shantell Sans"/>
                <a:cs typeface="Shantell Sans"/>
                <a:sym typeface="Shantell Sans"/>
              </a:rPr>
              <a:t>     </a:t>
            </a:r>
            <a:endParaRPr sz="1700">
              <a:solidFill>
                <a:schemeClr val="dk1"/>
              </a:solidFill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Shantell Sans"/>
                <a:ea typeface="Shantell Sans"/>
                <a:cs typeface="Shantell Sans"/>
                <a:sym typeface="Shantell Sans"/>
              </a:rPr>
              <a:t> </a:t>
            </a:r>
            <a:endParaRPr sz="1700">
              <a:solidFill>
                <a:schemeClr val="dk1"/>
              </a:solidFill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Shantell Sans"/>
                <a:ea typeface="Shantell Sans"/>
                <a:cs typeface="Shantell Sans"/>
                <a:sym typeface="Shantell Sans"/>
              </a:rPr>
              <a:t>Description: </a:t>
            </a:r>
            <a:endParaRPr b="1" sz="1700">
              <a:solidFill>
                <a:schemeClr val="dk1"/>
              </a:solidFill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Shantell Sans"/>
                <a:ea typeface="Shantell Sans"/>
                <a:cs typeface="Shantell Sans"/>
                <a:sym typeface="Shantell Sans"/>
              </a:rPr>
              <a:t>Оцени, насколько тексты полезны для обучения, расширения кругозора, получения системных знаний.</a:t>
            </a:r>
            <a:endParaRPr sz="1700">
              <a:solidFill>
                <a:schemeClr val="dk1"/>
              </a:solidFill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Shantell Sans"/>
                <a:ea typeface="Shantell Sans"/>
                <a:cs typeface="Shantell Sans"/>
                <a:sym typeface="Shantell Sans"/>
              </a:rPr>
              <a:t>Scale:</a:t>
            </a:r>
            <a:endParaRPr b="1" sz="1700">
              <a:solidFill>
                <a:schemeClr val="dk1"/>
              </a:solidFill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Shantell Sans"/>
                <a:ea typeface="Shantell Sans"/>
                <a:cs typeface="Shantell Sans"/>
                <a:sym typeface="Shantell Sans"/>
              </a:rPr>
              <a:t>0 - образовательной ценности нет</a:t>
            </a:r>
            <a:endParaRPr sz="1700">
              <a:solidFill>
                <a:schemeClr val="dk1"/>
              </a:solidFill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Shantell Sans"/>
                <a:ea typeface="Shantell Sans"/>
                <a:cs typeface="Shantell Sans"/>
                <a:sym typeface="Shantell Sans"/>
              </a:rPr>
              <a:t>1 - очень низкая</a:t>
            </a:r>
            <a:endParaRPr sz="1700">
              <a:solidFill>
                <a:schemeClr val="dk1"/>
              </a:solidFill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Shantell Sans"/>
                <a:ea typeface="Shantell Sans"/>
                <a:cs typeface="Shantell Sans"/>
                <a:sym typeface="Shantell Sans"/>
              </a:rPr>
              <a:t>2 - низкая</a:t>
            </a:r>
            <a:endParaRPr sz="1700">
              <a:solidFill>
                <a:schemeClr val="dk1"/>
              </a:solidFill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Shantell Sans"/>
                <a:ea typeface="Shantell Sans"/>
                <a:cs typeface="Shantell Sans"/>
                <a:sym typeface="Shantell Sans"/>
              </a:rPr>
              <a:t>3 - средняя</a:t>
            </a:r>
            <a:endParaRPr sz="1700">
              <a:solidFill>
                <a:schemeClr val="dk1"/>
              </a:solidFill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Shantell Sans"/>
                <a:ea typeface="Shantell Sans"/>
                <a:cs typeface="Shantell Sans"/>
                <a:sym typeface="Shantell Sans"/>
              </a:rPr>
              <a:t>4 - высокая</a:t>
            </a:r>
            <a:endParaRPr sz="1700">
              <a:solidFill>
                <a:schemeClr val="dk1"/>
              </a:solidFill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Shantell Sans"/>
                <a:ea typeface="Shantell Sans"/>
                <a:cs typeface="Shantell Sans"/>
                <a:sym typeface="Shantell Sans"/>
              </a:rPr>
              <a:t>5 - очень высокая</a:t>
            </a:r>
            <a:endParaRPr sz="1700">
              <a:latin typeface="Shantell Sans"/>
              <a:ea typeface="Shantell Sans"/>
              <a:cs typeface="Shantell Sans"/>
              <a:sym typeface="Shantell Sans"/>
            </a:endParaRPr>
          </a:p>
        </p:txBody>
      </p:sp>
      <p:sp>
        <p:nvSpPr>
          <p:cNvPr id="220" name="Google Shape;220;p31"/>
          <p:cNvSpPr txBox="1"/>
          <p:nvPr/>
        </p:nvSpPr>
        <p:spPr>
          <a:xfrm>
            <a:off x="4868100" y="772200"/>
            <a:ext cx="42603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Shantell Sans"/>
                <a:ea typeface="Shantell Sans"/>
                <a:cs typeface="Shantell Sans"/>
                <a:sym typeface="Shantell Sans"/>
              </a:rPr>
              <a:t>H</a:t>
            </a:r>
            <a:r>
              <a:rPr b="1" lang="en" sz="1700">
                <a:solidFill>
                  <a:schemeClr val="dk1"/>
                </a:solidFill>
                <a:latin typeface="Shantell Sans"/>
                <a:ea typeface="Shantell Sans"/>
                <a:cs typeface="Shantell Sans"/>
                <a:sym typeface="Shantell Sans"/>
              </a:rPr>
              <a:t>armful content risk</a:t>
            </a:r>
            <a:endParaRPr b="1" sz="1700">
              <a:solidFill>
                <a:schemeClr val="dk1"/>
              </a:solidFill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Shantell Sans"/>
                <a:ea typeface="Shantell Sans"/>
                <a:cs typeface="Shantell Sans"/>
                <a:sym typeface="Shantell Sans"/>
              </a:rPr>
              <a:t>D</a:t>
            </a:r>
            <a:r>
              <a:rPr b="1" lang="en" sz="1700">
                <a:solidFill>
                  <a:schemeClr val="dk1"/>
                </a:solidFill>
                <a:latin typeface="Shantell Sans"/>
                <a:ea typeface="Shantell Sans"/>
                <a:cs typeface="Shantell Sans"/>
                <a:sym typeface="Shantell Sans"/>
              </a:rPr>
              <a:t>escription:</a:t>
            </a:r>
            <a:endParaRPr b="1" sz="1700">
              <a:solidFill>
                <a:schemeClr val="dk1"/>
              </a:solidFill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Shantell Sans"/>
                <a:ea typeface="Shantell Sans"/>
                <a:cs typeface="Shantell Sans"/>
                <a:sym typeface="Shantell Sans"/>
              </a:rPr>
              <a:t>Оцени наличие опасных советов, дезинформации, радикализации, дискриминации, экстремальности, призывов к вреду</a:t>
            </a:r>
            <a:endParaRPr sz="1700">
              <a:solidFill>
                <a:schemeClr val="dk1"/>
              </a:solidFill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Shantell Sans"/>
                <a:ea typeface="Shantell Sans"/>
                <a:cs typeface="Shantell Sans"/>
                <a:sym typeface="Shantell Sans"/>
              </a:rPr>
              <a:t>Scale:</a:t>
            </a:r>
            <a:endParaRPr b="1" sz="1700">
              <a:solidFill>
                <a:schemeClr val="dk1"/>
              </a:solidFill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Shantell Sans"/>
                <a:ea typeface="Shantell Sans"/>
                <a:cs typeface="Shantell Sans"/>
                <a:sym typeface="Shantell Sans"/>
              </a:rPr>
              <a:t>0 - риска почти нет</a:t>
            </a:r>
            <a:endParaRPr sz="1700">
              <a:solidFill>
                <a:schemeClr val="dk1"/>
              </a:solidFill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Shantell Sans"/>
                <a:ea typeface="Shantell Sans"/>
                <a:cs typeface="Shantell Sans"/>
                <a:sym typeface="Shantell Sans"/>
              </a:rPr>
              <a:t>1 - очень низкий</a:t>
            </a:r>
            <a:endParaRPr sz="1700">
              <a:solidFill>
                <a:schemeClr val="dk1"/>
              </a:solidFill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Shantell Sans"/>
                <a:ea typeface="Shantell Sans"/>
                <a:cs typeface="Shantell Sans"/>
                <a:sym typeface="Shantell Sans"/>
              </a:rPr>
              <a:t>2 - низкий</a:t>
            </a:r>
            <a:endParaRPr sz="1700">
              <a:solidFill>
                <a:schemeClr val="dk1"/>
              </a:solidFill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Shantell Sans"/>
                <a:ea typeface="Shantell Sans"/>
                <a:cs typeface="Shantell Sans"/>
                <a:sym typeface="Shantell Sans"/>
              </a:rPr>
              <a:t>3 - умеренный</a:t>
            </a:r>
            <a:endParaRPr sz="1700">
              <a:solidFill>
                <a:schemeClr val="dk1"/>
              </a:solidFill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Shantell Sans"/>
                <a:ea typeface="Shantell Sans"/>
                <a:cs typeface="Shantell Sans"/>
                <a:sym typeface="Shantell Sans"/>
              </a:rPr>
              <a:t>4 - высокий</a:t>
            </a:r>
            <a:endParaRPr sz="1700">
              <a:solidFill>
                <a:schemeClr val="dk1"/>
              </a:solidFill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Shantell Sans"/>
                <a:ea typeface="Shantell Sans"/>
                <a:cs typeface="Shantell Sans"/>
                <a:sym typeface="Shantell Sans"/>
              </a:rPr>
              <a:t>5 - очень высокий</a:t>
            </a:r>
            <a:endParaRPr sz="1700">
              <a:latin typeface="Shantell Sans"/>
              <a:ea typeface="Shantell Sans"/>
              <a:cs typeface="Shantell Sans"/>
              <a:sym typeface="Shantell Sans"/>
            </a:endParaRPr>
          </a:p>
        </p:txBody>
      </p:sp>
      <p:cxnSp>
        <p:nvCxnSpPr>
          <p:cNvPr id="221" name="Google Shape;221;p31"/>
          <p:cNvCxnSpPr/>
          <p:nvPr/>
        </p:nvCxnSpPr>
        <p:spPr>
          <a:xfrm>
            <a:off x="4868100" y="683100"/>
            <a:ext cx="0" cy="446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2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Сравнение компактного классификатора и LLM-учителя</a:t>
            </a:r>
            <a:endParaRPr/>
          </a:p>
        </p:txBody>
      </p:sp>
      <p:sp>
        <p:nvSpPr>
          <p:cNvPr id="228" name="Google Shape;228;p32"/>
          <p:cNvSpPr txBox="1"/>
          <p:nvPr/>
        </p:nvSpPr>
        <p:spPr>
          <a:xfrm>
            <a:off x="537600" y="1422225"/>
            <a:ext cx="34191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/>
              <a:t>96,2%</a:t>
            </a:r>
            <a:r>
              <a:rPr lang="en" sz="2200"/>
              <a:t> 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расхождение не более одного пункта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/>
              <a:t>68,5% </a:t>
            </a:r>
            <a:endParaRPr b="1"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точное совпадение </a:t>
            </a:r>
            <a:endParaRPr sz="2200"/>
          </a:p>
        </p:txBody>
      </p:sp>
      <p:pic>
        <p:nvPicPr>
          <p:cNvPr id="229" name="Google Shape;22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2925" y="572701"/>
            <a:ext cx="4214850" cy="4214873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2"/>
          <p:cNvSpPr txBox="1"/>
          <p:nvPr/>
        </p:nvSpPr>
        <p:spPr>
          <a:xfrm>
            <a:off x="3956700" y="4694375"/>
            <a:ext cx="518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1000 документов. Вертикаль: LLM, горизонталь: компактная модель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31" name="Google Shape;23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3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Тематический состав коллекции</a:t>
            </a:r>
            <a:endParaRPr/>
          </a:p>
        </p:txBody>
      </p:sp>
      <p:pic>
        <p:nvPicPr>
          <p:cNvPr id="237" name="Google Shape;237;p33"/>
          <p:cNvPicPr preferRelativeResize="0"/>
          <p:nvPr/>
        </p:nvPicPr>
        <p:blipFill rotWithShape="1">
          <a:blip r:embed="rId3">
            <a:alphaModFix/>
          </a:blip>
          <a:srcRect b="10916" l="0" r="0" t="3599"/>
          <a:stretch/>
        </p:blipFill>
        <p:spPr>
          <a:xfrm>
            <a:off x="5438350" y="1166163"/>
            <a:ext cx="3705649" cy="281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313988"/>
            <a:ext cx="5579976" cy="2515519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3"/>
          <p:cNvSpPr txBox="1"/>
          <p:nvPr/>
        </p:nvSpPr>
        <p:spPr>
          <a:xfrm>
            <a:off x="0" y="3829500"/>
            <a:ext cx="58848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Статистика по некоторым тегам (м</a:t>
            </a:r>
            <a:r>
              <a:rPr lang="en" sz="1300">
                <a:solidFill>
                  <a:schemeClr val="dk1"/>
                </a:solidFill>
              </a:rPr>
              <a:t>лн документов);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документ может входить в несколько тем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40" name="Google Shape;24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Распределение оценок классификаторов</a:t>
            </a:r>
            <a:endParaRPr/>
          </a:p>
        </p:txBody>
      </p:sp>
      <p:pic>
        <p:nvPicPr>
          <p:cNvPr id="246" name="Google Shape;24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572700"/>
            <a:ext cx="9143997" cy="4375546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Тематика и образовательная ценность</a:t>
            </a:r>
            <a:endParaRPr/>
          </a:p>
        </p:txBody>
      </p:sp>
      <p:pic>
        <p:nvPicPr>
          <p:cNvPr id="253" name="Google Shape;25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7713"/>
            <a:ext cx="8839198" cy="253646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5"/>
          <p:cNvSpPr txBox="1"/>
          <p:nvPr/>
        </p:nvSpPr>
        <p:spPr>
          <a:xfrm>
            <a:off x="152400" y="3625850"/>
            <a:ext cx="8679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Тег </a:t>
            </a:r>
            <a:r>
              <a:rPr b="1" lang="en" sz="1800">
                <a:solidFill>
                  <a:schemeClr val="dk1"/>
                </a:solidFill>
              </a:rPr>
              <a:t>#образование_россии</a:t>
            </a:r>
            <a:r>
              <a:rPr lang="en" sz="1800">
                <a:solidFill>
                  <a:schemeClr val="dk1"/>
                </a:solidFill>
              </a:rPr>
              <a:t> включает в себя организационную и рекламную информацию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55" name="Google Shape;255;p35"/>
          <p:cNvSpPr/>
          <p:nvPr/>
        </p:nvSpPr>
        <p:spPr>
          <a:xfrm>
            <a:off x="255000" y="1582175"/>
            <a:ext cx="8520600" cy="260700"/>
          </a:xfrm>
          <a:prstGeom prst="rect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5"/>
          <p:cNvSpPr/>
          <p:nvPr/>
        </p:nvSpPr>
        <p:spPr>
          <a:xfrm>
            <a:off x="255000" y="2198225"/>
            <a:ext cx="8520600" cy="311100"/>
          </a:xfrm>
          <a:prstGeom prst="rect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5"/>
          <p:cNvSpPr txBox="1"/>
          <p:nvPr/>
        </p:nvSpPr>
        <p:spPr>
          <a:xfrm>
            <a:off x="152400" y="4364750"/>
            <a:ext cx="8679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Тег </a:t>
            </a:r>
            <a:r>
              <a:rPr b="1" lang="en" sz="1800">
                <a:solidFill>
                  <a:schemeClr val="dk1"/>
                </a:solidFill>
              </a:rPr>
              <a:t>#туризм</a:t>
            </a:r>
            <a:r>
              <a:rPr lang="en" sz="1800">
                <a:solidFill>
                  <a:schemeClr val="dk1"/>
                </a:solidFill>
              </a:rPr>
              <a:t> содержит грамотно написанные тексты, но не несет в себе образовательной ценности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58" name="Google Shape;25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>
            <p:ph type="title"/>
          </p:nvPr>
        </p:nvSpPr>
        <p:spPr>
          <a:xfrm>
            <a:off x="319575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Методы построения коллекции: юридический домен</a:t>
            </a:r>
            <a:endParaRPr/>
          </a:p>
        </p:txBody>
      </p:sp>
      <p:sp>
        <p:nvSpPr>
          <p:cNvPr id="264" name="Google Shape;264;p36"/>
          <p:cNvSpPr txBox="1"/>
          <p:nvPr/>
        </p:nvSpPr>
        <p:spPr>
          <a:xfrm>
            <a:off x="5241250" y="572700"/>
            <a:ext cx="269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На базе эмбеддингов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65" name="Google Shape;265;p36"/>
          <p:cNvSpPr txBox="1"/>
          <p:nvPr/>
        </p:nvSpPr>
        <p:spPr>
          <a:xfrm>
            <a:off x="660050" y="572700"/>
            <a:ext cx="269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На базе LLM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66" name="Google Shape;266;p36"/>
          <p:cNvPicPr preferRelativeResize="0"/>
          <p:nvPr/>
        </p:nvPicPr>
        <p:blipFill rotWithShape="1">
          <a:blip r:embed="rId3">
            <a:alphaModFix/>
          </a:blip>
          <a:srcRect b="0" l="7561" r="0" t="0"/>
          <a:stretch/>
        </p:blipFill>
        <p:spPr>
          <a:xfrm>
            <a:off x="727275" y="1007350"/>
            <a:ext cx="2558950" cy="386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2937" y="1038038"/>
            <a:ext cx="3410018" cy="3804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8" name="Google Shape;268;p36"/>
          <p:cNvCxnSpPr/>
          <p:nvPr/>
        </p:nvCxnSpPr>
        <p:spPr>
          <a:xfrm>
            <a:off x="4297338" y="491875"/>
            <a:ext cx="0" cy="4661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" name="Google Shape;269;p36"/>
          <p:cNvSpPr txBox="1"/>
          <p:nvPr/>
        </p:nvSpPr>
        <p:spPr>
          <a:xfrm>
            <a:off x="6588675" y="4127700"/>
            <a:ext cx="2559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query = "законы, право, судебную практику"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70" name="Google Shape;27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7"/>
          <p:cNvSpPr txBox="1"/>
          <p:nvPr>
            <p:ph type="title"/>
          </p:nvPr>
        </p:nvSpPr>
        <p:spPr>
          <a:xfrm>
            <a:off x="319575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Методы построения коллекции: юридический домен</a:t>
            </a:r>
            <a:endParaRPr/>
          </a:p>
        </p:txBody>
      </p:sp>
      <p:sp>
        <p:nvSpPr>
          <p:cNvPr id="276" name="Google Shape;276;p37"/>
          <p:cNvSpPr txBox="1"/>
          <p:nvPr/>
        </p:nvSpPr>
        <p:spPr>
          <a:xfrm>
            <a:off x="5241250" y="1007350"/>
            <a:ext cx="269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На базе эмбеддингов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77" name="Google Shape;277;p37"/>
          <p:cNvSpPr txBox="1"/>
          <p:nvPr/>
        </p:nvSpPr>
        <p:spPr>
          <a:xfrm>
            <a:off x="340675" y="1007350"/>
            <a:ext cx="269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На базе LLM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78" name="Google Shape;278;p37"/>
          <p:cNvSpPr txBox="1"/>
          <p:nvPr/>
        </p:nvSpPr>
        <p:spPr>
          <a:xfrm>
            <a:off x="28988" y="1474900"/>
            <a:ext cx="40143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#недвижимость</a:t>
            </a:r>
            <a:endParaRPr sz="17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#юридические_консультации</a:t>
            </a:r>
            <a:endParaRPr sz="17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#право</a:t>
            </a:r>
            <a:endParaRPr sz="17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#покупка_и_продажа</a:t>
            </a:r>
            <a:endParaRPr sz="17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#уголовное_наказание</a:t>
            </a:r>
            <a:endParaRPr sz="17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Shantell Sans"/>
                <a:ea typeface="Shantell Sans"/>
                <a:cs typeface="Shantell Sans"/>
                <a:sym typeface="Shantell Sans"/>
              </a:rPr>
              <a:t>#реабилитация</a:t>
            </a:r>
            <a:endParaRPr b="1" sz="17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#купля_продажа_недвижимости</a:t>
            </a:r>
            <a:endParaRPr sz="17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#суды</a:t>
            </a:r>
            <a:endParaRPr sz="17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#государственная_деятельность</a:t>
            </a:r>
            <a:endParaRPr sz="17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#судебные_иски_и_претензии</a:t>
            </a:r>
            <a:endParaRPr sz="17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#административные_правила</a:t>
            </a:r>
            <a:endParaRPr sz="1700">
              <a:latin typeface="Shantell Sans"/>
              <a:ea typeface="Shantell Sans"/>
              <a:cs typeface="Shantell Sans"/>
              <a:sym typeface="Shantell Sans"/>
            </a:endParaRPr>
          </a:p>
        </p:txBody>
      </p:sp>
      <p:cxnSp>
        <p:nvCxnSpPr>
          <p:cNvPr id="279" name="Google Shape;279;p37"/>
          <p:cNvCxnSpPr/>
          <p:nvPr/>
        </p:nvCxnSpPr>
        <p:spPr>
          <a:xfrm>
            <a:off x="4145038" y="926525"/>
            <a:ext cx="0" cy="359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" name="Google Shape;280;p37"/>
          <p:cNvSpPr txBox="1"/>
          <p:nvPr/>
        </p:nvSpPr>
        <p:spPr>
          <a:xfrm>
            <a:off x="4331963" y="1469050"/>
            <a:ext cx="47988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законодательство</a:t>
            </a: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:</a:t>
            </a: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 0.8933</a:t>
            </a:r>
            <a:endParaRPr sz="17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право: 0.8852</a:t>
            </a:r>
            <a:endParaRPr sz="17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суды: 0.8547</a:t>
            </a:r>
            <a:endParaRPr sz="17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юридические консультации</a:t>
            </a: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:</a:t>
            </a: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 0.8240</a:t>
            </a:r>
            <a:endParaRPr sz="17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судебные иски и претензии</a:t>
            </a: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:</a:t>
            </a: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 0.7542</a:t>
            </a:r>
            <a:endParaRPr sz="17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трудовые право: 0.7392</a:t>
            </a:r>
            <a:endParaRPr sz="17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банковское дело: 0.7293</a:t>
            </a:r>
            <a:endParaRPr sz="17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Shantell Sans"/>
                <a:ea typeface="Shantell Sans"/>
                <a:cs typeface="Shantell Sans"/>
                <a:sym typeface="Shantell Sans"/>
              </a:rPr>
              <a:t>медицина: 0.7170</a:t>
            </a:r>
            <a:endParaRPr b="1" sz="17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уголовное наказание: 0.7097</a:t>
            </a:r>
            <a:endParaRPr sz="17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правоохранительные органы: 0.7055</a:t>
            </a:r>
            <a:endParaRPr sz="17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договоры: 0.7047</a:t>
            </a:r>
            <a:endParaRPr sz="1700">
              <a:latin typeface="Shantell Sans"/>
              <a:ea typeface="Shantell Sans"/>
              <a:cs typeface="Shantell Sans"/>
              <a:sym typeface="Shante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Shantell Sans"/>
                <a:ea typeface="Shantell Sans"/>
                <a:cs typeface="Shantell Sans"/>
                <a:sym typeface="Shantell Sans"/>
              </a:rPr>
              <a:t>журналистика: 0.7027</a:t>
            </a:r>
            <a:endParaRPr b="1" sz="1700">
              <a:latin typeface="Shantell Sans"/>
              <a:ea typeface="Shantell Sans"/>
              <a:cs typeface="Shantell Sans"/>
              <a:sym typeface="Shantell Sans"/>
            </a:endParaRPr>
          </a:p>
        </p:txBody>
      </p:sp>
      <p:sp>
        <p:nvSpPr>
          <p:cNvPr id="281" name="Google Shape;281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Сбор юридического домена</a:t>
            </a:r>
            <a:endParaRPr/>
          </a:p>
        </p:txBody>
      </p:sp>
      <p:sp>
        <p:nvSpPr>
          <p:cNvPr id="287" name="Google Shape;287;p38"/>
          <p:cNvSpPr txBox="1"/>
          <p:nvPr/>
        </p:nvSpPr>
        <p:spPr>
          <a:xfrm>
            <a:off x="311700" y="1279400"/>
            <a:ext cx="38031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Исходный словарь: </a:t>
            </a:r>
            <a:r>
              <a:rPr b="1" lang="en" sz="1700">
                <a:solidFill>
                  <a:schemeClr val="dk1"/>
                </a:solidFill>
              </a:rPr>
              <a:t>788 тематических классов</a:t>
            </a:r>
            <a:endParaRPr b="1"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LLM выделяет классы (теги), связанные с юриспруденцией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Формируется множество из </a:t>
            </a:r>
            <a:r>
              <a:rPr b="1" lang="en" sz="1700">
                <a:solidFill>
                  <a:schemeClr val="dk1"/>
                </a:solidFill>
              </a:rPr>
              <a:t>около 40 юридических тегов</a:t>
            </a:r>
            <a:endParaRPr b="1"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Для каждого документа подсчитывается число тегов из этого множества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288" name="Google Shape;28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5305" y="76200"/>
            <a:ext cx="4314644" cy="4991101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9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Результат для юридического домена</a:t>
            </a:r>
            <a:endParaRPr/>
          </a:p>
        </p:txBody>
      </p:sp>
      <p:sp>
        <p:nvSpPr>
          <p:cNvPr id="295" name="Google Shape;295;p39"/>
          <p:cNvSpPr txBox="1"/>
          <p:nvPr>
            <p:ph idx="1" type="body"/>
          </p:nvPr>
        </p:nvSpPr>
        <p:spPr>
          <a:xfrm>
            <a:off x="311700" y="1229863"/>
            <a:ext cx="2467500" cy="4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en">
                <a:solidFill>
                  <a:schemeClr val="dk1"/>
                </a:solidFill>
              </a:rPr>
              <a:t>4,17</a:t>
            </a:r>
            <a:r>
              <a:rPr lang="en">
                <a:solidFill>
                  <a:schemeClr val="dk1"/>
                </a:solidFill>
              </a:rPr>
              <a:t> млн. документов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96" name="Google Shape;296;p39"/>
          <p:cNvPicPr preferRelativeResize="0"/>
          <p:nvPr/>
        </p:nvPicPr>
        <p:blipFill rotWithShape="1">
          <a:blip r:embed="rId3">
            <a:alphaModFix/>
          </a:blip>
          <a:srcRect b="0" l="0" r="0" t="7885"/>
          <a:stretch/>
        </p:blipFill>
        <p:spPr>
          <a:xfrm>
            <a:off x="3148075" y="1452375"/>
            <a:ext cx="5995925" cy="3068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9"/>
          <p:cNvSpPr txBox="1"/>
          <p:nvPr/>
        </p:nvSpPr>
        <p:spPr>
          <a:xfrm>
            <a:off x="311700" y="2376925"/>
            <a:ext cx="2836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Одного тематического фильтра недостаточно для отбора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98" name="Google Shape;298;p39"/>
          <p:cNvSpPr txBox="1"/>
          <p:nvPr/>
        </p:nvSpPr>
        <p:spPr>
          <a:xfrm>
            <a:off x="4059688" y="4520825"/>
            <a:ext cx="417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Оценка классификатора образовательной ценности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99" name="Google Shape;299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0"/>
          <p:cNvSpPr txBox="1"/>
          <p:nvPr>
            <p:ph type="title"/>
          </p:nvPr>
        </p:nvSpPr>
        <p:spPr>
          <a:xfrm>
            <a:off x="45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Пример</a:t>
            </a:r>
            <a:endParaRPr/>
          </a:p>
        </p:txBody>
      </p:sp>
      <p:sp>
        <p:nvSpPr>
          <p:cNvPr id="305" name="Google Shape;305;p40"/>
          <p:cNvSpPr txBox="1"/>
          <p:nvPr/>
        </p:nvSpPr>
        <p:spPr>
          <a:xfrm>
            <a:off x="307500" y="1896275"/>
            <a:ext cx="51954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hantell Sans"/>
                <a:ea typeface="Shantell Sans"/>
                <a:cs typeface="Shantell Sans"/>
                <a:sym typeface="Shantell Sans"/>
              </a:rPr>
              <a:t>Рынок США один из самых крупных рынков в мире. Так </a:t>
            </a:r>
            <a:r>
              <a:rPr b="1" lang="en">
                <a:latin typeface="Shantell Sans"/>
                <a:ea typeface="Shantell Sans"/>
                <a:cs typeface="Shantell Sans"/>
                <a:sym typeface="Shantell Sans"/>
              </a:rPr>
              <a:t>почему бы не открыть бизнес и попробовать выйти на новый уровень развития</a:t>
            </a:r>
            <a:r>
              <a:rPr lang="en">
                <a:latin typeface="Shantell Sans"/>
                <a:ea typeface="Shantell Sans"/>
                <a:cs typeface="Shantell Sans"/>
                <a:sym typeface="Shantell Sans"/>
              </a:rPr>
              <a:t>? </a:t>
            </a:r>
            <a:r>
              <a:rPr b="1" lang="en">
                <a:latin typeface="Shantell Sans"/>
                <a:ea typeface="Shantell Sans"/>
                <a:cs typeface="Shantell Sans"/>
                <a:sym typeface="Shantell Sans"/>
              </a:rPr>
              <a:t>Наши специалисты</a:t>
            </a:r>
            <a:r>
              <a:rPr lang="en">
                <a:latin typeface="Shantell Sans"/>
                <a:ea typeface="Shantell Sans"/>
                <a:cs typeface="Shantell Sans"/>
                <a:sym typeface="Shantell Sans"/>
              </a:rPr>
              <a:t> </a:t>
            </a:r>
            <a:r>
              <a:rPr b="1" lang="en">
                <a:latin typeface="Shantell Sans"/>
                <a:ea typeface="Shantell Sans"/>
                <a:cs typeface="Shantell Sans"/>
                <a:sym typeface="Shantell Sans"/>
              </a:rPr>
              <a:t>дадут вам необходимые советы</a:t>
            </a:r>
            <a:r>
              <a:rPr lang="en">
                <a:latin typeface="Shantell Sans"/>
                <a:ea typeface="Shantell Sans"/>
                <a:cs typeface="Shantell Sans"/>
                <a:sym typeface="Shantell Sans"/>
              </a:rPr>
              <a:t> и окажут консультацию по регистрации фирмы в США.</a:t>
            </a:r>
            <a:endParaRPr>
              <a:latin typeface="Shantell Sans"/>
              <a:ea typeface="Shantell Sans"/>
              <a:cs typeface="Shantell Sans"/>
              <a:sym typeface="Shantell Sans"/>
            </a:endParaRPr>
          </a:p>
        </p:txBody>
      </p:sp>
      <p:sp>
        <p:nvSpPr>
          <p:cNvPr id="306" name="Google Shape;306;p40"/>
          <p:cNvSpPr txBox="1"/>
          <p:nvPr/>
        </p:nvSpPr>
        <p:spPr>
          <a:xfrm>
            <a:off x="5957925" y="1896275"/>
            <a:ext cx="3000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Educational value:</a:t>
            </a:r>
            <a:r>
              <a:rPr lang="en" sz="1700"/>
              <a:t> </a:t>
            </a:r>
            <a:r>
              <a:rPr lang="en" sz="1700"/>
              <a:t>0,027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	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Перечень услуг и рекламное предложение</a:t>
            </a:r>
            <a:endParaRPr sz="1700"/>
          </a:p>
        </p:txBody>
      </p:sp>
      <p:sp>
        <p:nvSpPr>
          <p:cNvPr id="307" name="Google Shape;307;p40"/>
          <p:cNvSpPr txBox="1"/>
          <p:nvPr/>
        </p:nvSpPr>
        <p:spPr>
          <a:xfrm>
            <a:off x="307500" y="3450300"/>
            <a:ext cx="51954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hantell Sans"/>
                <a:ea typeface="Shantell Sans"/>
                <a:cs typeface="Shantell Sans"/>
                <a:sym typeface="Shantell Sans"/>
              </a:rPr>
              <a:t>Важно знать, что</a:t>
            </a:r>
            <a:r>
              <a:rPr b="1" lang="en">
                <a:latin typeface="Shantell Sans"/>
                <a:ea typeface="Shantell Sans"/>
                <a:cs typeface="Shantell Sans"/>
                <a:sym typeface="Shantell Sans"/>
              </a:rPr>
              <a:t> кадастровый инженер несет административную и уголовную ответственность</a:t>
            </a:r>
            <a:r>
              <a:rPr lang="en">
                <a:latin typeface="Shantell Sans"/>
                <a:ea typeface="Shantell Sans"/>
                <a:cs typeface="Shantell Sans"/>
                <a:sym typeface="Shantell Sans"/>
              </a:rPr>
              <a:t> за несоблюдение требований законодательства России в области кадастровых отношений, в том числе за </a:t>
            </a:r>
            <a:r>
              <a:rPr b="1" lang="en">
                <a:latin typeface="Shantell Sans"/>
                <a:ea typeface="Shantell Sans"/>
                <a:cs typeface="Shantell Sans"/>
                <a:sym typeface="Shantell Sans"/>
              </a:rPr>
              <a:t>недостоверность сведений межевого плана, технического плана, акта обследования или карты-плана территории.</a:t>
            </a:r>
            <a:endParaRPr b="1">
              <a:latin typeface="Shantell Sans"/>
              <a:ea typeface="Shantell Sans"/>
              <a:cs typeface="Shantell Sans"/>
              <a:sym typeface="Shantell Sans"/>
            </a:endParaRPr>
          </a:p>
        </p:txBody>
      </p:sp>
      <p:sp>
        <p:nvSpPr>
          <p:cNvPr id="308" name="Google Shape;308;p40"/>
          <p:cNvSpPr txBox="1"/>
          <p:nvPr/>
        </p:nvSpPr>
        <p:spPr>
          <a:xfrm>
            <a:off x="5957925" y="3450300"/>
            <a:ext cx="3000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Educational value:</a:t>
            </a:r>
            <a:r>
              <a:rPr lang="en" sz="1700"/>
              <a:t> 0,81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	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Подробное объяснение роли специалиста</a:t>
            </a:r>
            <a:endParaRPr sz="1700"/>
          </a:p>
        </p:txBody>
      </p:sp>
      <p:cxnSp>
        <p:nvCxnSpPr>
          <p:cNvPr id="309" name="Google Shape;309;p40"/>
          <p:cNvCxnSpPr/>
          <p:nvPr/>
        </p:nvCxnSpPr>
        <p:spPr>
          <a:xfrm>
            <a:off x="4500" y="3344525"/>
            <a:ext cx="9135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0" name="Google Shape;310;p40"/>
          <p:cNvSpPr txBox="1"/>
          <p:nvPr/>
        </p:nvSpPr>
        <p:spPr>
          <a:xfrm>
            <a:off x="5957925" y="1217825"/>
            <a:ext cx="270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Оценки документов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311" name="Google Shape;311;p40"/>
          <p:cNvSpPr txBox="1"/>
          <p:nvPr/>
        </p:nvSpPr>
        <p:spPr>
          <a:xfrm>
            <a:off x="311700" y="1142650"/>
            <a:ext cx="381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Отрывки из текста документа</a:t>
            </a:r>
            <a:endParaRPr b="1" sz="1800">
              <a:solidFill>
                <a:schemeClr val="dk1"/>
              </a:solidFill>
            </a:endParaRPr>
          </a:p>
        </p:txBody>
      </p:sp>
      <p:cxnSp>
        <p:nvCxnSpPr>
          <p:cNvPr id="312" name="Google Shape;312;p40"/>
          <p:cNvCxnSpPr/>
          <p:nvPr/>
        </p:nvCxnSpPr>
        <p:spPr>
          <a:xfrm>
            <a:off x="5840400" y="1169250"/>
            <a:ext cx="0" cy="3963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3" name="Google Shape;313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1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Понятие образовательной ценности у LLM</a:t>
            </a:r>
            <a:endParaRPr/>
          </a:p>
        </p:txBody>
      </p:sp>
      <p:sp>
        <p:nvSpPr>
          <p:cNvPr id="319" name="Google Shape;319;p41"/>
          <p:cNvSpPr txBox="1"/>
          <p:nvPr>
            <p:ph idx="1" type="body"/>
          </p:nvPr>
        </p:nvSpPr>
        <p:spPr>
          <a:xfrm>
            <a:off x="257250" y="1017663"/>
            <a:ext cx="4985100" cy="4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Попросили модели сформировать шкалу 0-5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320" name="Google Shape;320;p41"/>
          <p:cNvGraphicFramePr/>
          <p:nvPr/>
        </p:nvGraphicFramePr>
        <p:xfrm>
          <a:off x="257238" y="1837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{1C55D707-6C9C-40B5-A4C7-56B1395E6188}</a:tableStyleId>
              </a:tblPr>
              <a:tblGrid>
                <a:gridCol w="3762575"/>
                <a:gridCol w="475802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Общие признаки в ответах моделей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Различия в интерпретации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Содержательные объяснения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Достаточно ли практической инструкции?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Причинно-следственные связи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Насколько глубоким должно быть объяснение?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Связное изложение темы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Какой материал заслуживает оценки 5?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1" name="Google Shape;321;p41"/>
          <p:cNvSpPr txBox="1"/>
          <p:nvPr/>
        </p:nvSpPr>
        <p:spPr>
          <a:xfrm>
            <a:off x="257250" y="4100738"/>
            <a:ext cx="8629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Для сравнения моделей был сформирован общий промпт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2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Сравнение четырех LLM разметчиков</a:t>
            </a:r>
            <a:endParaRPr/>
          </a:p>
        </p:txBody>
      </p:sp>
      <p:sp>
        <p:nvSpPr>
          <p:cNvPr id="328" name="Google Shape;328;p42"/>
          <p:cNvSpPr txBox="1"/>
          <p:nvPr/>
        </p:nvSpPr>
        <p:spPr>
          <a:xfrm>
            <a:off x="3900" y="834775"/>
            <a:ext cx="38439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1200 выбранных документов:</a:t>
            </a:r>
            <a:r>
              <a:rPr lang="en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по 200 для каждой исходной оценки Qwen от 0 до 5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Одни и те же тексты и общая новая инструкция.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Ответ модели: </a:t>
            </a:r>
            <a:r>
              <a:rPr b="1" lang="en" sz="1600">
                <a:solidFill>
                  <a:schemeClr val="dk1"/>
                </a:solidFill>
              </a:rPr>
              <a:t>оценка 0–5 и краткое обоснование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2300">
              <a:solidFill>
                <a:schemeClr val="dk1"/>
              </a:solidFill>
            </a:endParaRPr>
          </a:p>
        </p:txBody>
      </p:sp>
      <p:sp>
        <p:nvSpPr>
          <p:cNvPr id="329" name="Google Shape;329;p42"/>
          <p:cNvSpPr txBox="1"/>
          <p:nvPr/>
        </p:nvSpPr>
        <p:spPr>
          <a:xfrm>
            <a:off x="1944" y="3611238"/>
            <a:ext cx="91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Модели: </a:t>
            </a:r>
            <a:r>
              <a:rPr lang="en" sz="1600"/>
              <a:t>DeepSeek-v4-Flash | Gemini-3.7-Flash | GPT-5.6-Luna | Qwen3-235B-A22B-Instruct</a:t>
            </a:r>
            <a:endParaRPr sz="1600"/>
          </a:p>
        </p:txBody>
      </p:sp>
      <p:pic>
        <p:nvPicPr>
          <p:cNvPr id="330" name="Google Shape;33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8075" y="825825"/>
            <a:ext cx="5186999" cy="2419099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2"/>
          <p:cNvSpPr txBox="1"/>
          <p:nvPr/>
        </p:nvSpPr>
        <p:spPr>
          <a:xfrm>
            <a:off x="0" y="4408656"/>
            <a:ext cx="638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Вывод:</a:t>
            </a:r>
            <a:r>
              <a:rPr lang="en" sz="1600"/>
              <a:t> </a:t>
            </a:r>
            <a:r>
              <a:rPr lang="en" sz="1600"/>
              <a:t>Модели по-разному используют одну шкалу</a:t>
            </a:r>
            <a:endParaRPr sz="1600"/>
          </a:p>
        </p:txBody>
      </p:sp>
      <p:sp>
        <p:nvSpPr>
          <p:cNvPr id="332" name="Google Shape;33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3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Сравнение между моделями</a:t>
            </a:r>
            <a:endParaRPr/>
          </a:p>
        </p:txBody>
      </p:sp>
      <p:sp>
        <p:nvSpPr>
          <p:cNvPr id="338" name="Google Shape;338;p43"/>
          <p:cNvSpPr txBox="1"/>
          <p:nvPr/>
        </p:nvSpPr>
        <p:spPr>
          <a:xfrm>
            <a:off x="257250" y="3824775"/>
            <a:ext cx="8629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Порядок документов согласуется лучше, чем абсолютные значения</a:t>
            </a:r>
            <a:endParaRPr sz="1900"/>
          </a:p>
        </p:txBody>
      </p:sp>
      <p:pic>
        <p:nvPicPr>
          <p:cNvPr id="339" name="Google Shape;33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1975" y="725100"/>
            <a:ext cx="6940054" cy="2947276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Пример разногласия</a:t>
            </a:r>
            <a:endParaRPr/>
          </a:p>
        </p:txBody>
      </p:sp>
      <p:sp>
        <p:nvSpPr>
          <p:cNvPr id="346" name="Google Shape;346;p44"/>
          <p:cNvSpPr txBox="1"/>
          <p:nvPr/>
        </p:nvSpPr>
        <p:spPr>
          <a:xfrm>
            <a:off x="1477950" y="724650"/>
            <a:ext cx="6188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Shantell Sans"/>
                <a:ea typeface="Shantell Sans"/>
                <a:cs typeface="Shantell Sans"/>
                <a:sym typeface="Shantell Sans"/>
              </a:rPr>
              <a:t>В США</a:t>
            </a:r>
            <a:r>
              <a:rPr lang="en" sz="1800">
                <a:latin typeface="Shantell Sans"/>
                <a:ea typeface="Shantell Sans"/>
                <a:cs typeface="Shantell Sans"/>
                <a:sym typeface="Shantell Sans"/>
              </a:rPr>
              <a:t> сейчас на тысячу жителей приходится </a:t>
            </a:r>
            <a:r>
              <a:rPr b="1" lang="en" sz="1800">
                <a:latin typeface="Shantell Sans"/>
                <a:ea typeface="Shantell Sans"/>
                <a:cs typeface="Shantell Sans"/>
                <a:sym typeface="Shantell Sans"/>
              </a:rPr>
              <a:t>800 автомобилей</a:t>
            </a:r>
            <a:r>
              <a:rPr lang="en" sz="1800">
                <a:latin typeface="Shantell Sans"/>
                <a:ea typeface="Shantell Sans"/>
                <a:cs typeface="Shantell Sans"/>
                <a:sym typeface="Shantell Sans"/>
              </a:rPr>
              <a:t>, </a:t>
            </a:r>
            <a:r>
              <a:rPr b="1" lang="en" sz="1800">
                <a:latin typeface="Shantell Sans"/>
                <a:ea typeface="Shantell Sans"/>
                <a:cs typeface="Shantell Sans"/>
                <a:sym typeface="Shantell Sans"/>
              </a:rPr>
              <a:t>у нас</a:t>
            </a:r>
            <a:r>
              <a:rPr lang="en" sz="1800">
                <a:latin typeface="Shantell Sans"/>
                <a:ea typeface="Shantell Sans"/>
                <a:cs typeface="Shantell Sans"/>
                <a:sym typeface="Shantell Sans"/>
              </a:rPr>
              <a:t> - пока </a:t>
            </a:r>
            <a:r>
              <a:rPr b="1" lang="en" sz="1800">
                <a:latin typeface="Shantell Sans"/>
                <a:ea typeface="Shantell Sans"/>
                <a:cs typeface="Shantell Sans"/>
                <a:sym typeface="Shantell Sans"/>
              </a:rPr>
              <a:t>300</a:t>
            </a:r>
            <a:r>
              <a:rPr lang="en" sz="1800">
                <a:latin typeface="Shantell Sans"/>
                <a:ea typeface="Shantell Sans"/>
                <a:cs typeface="Shantell Sans"/>
                <a:sym typeface="Shantell Sans"/>
              </a:rPr>
              <a:t>… </a:t>
            </a:r>
            <a:r>
              <a:rPr b="1" lang="en" sz="1800">
                <a:latin typeface="Shantell Sans"/>
                <a:ea typeface="Shantell Sans"/>
                <a:cs typeface="Shantell Sans"/>
                <a:sym typeface="Shantell Sans"/>
              </a:rPr>
              <a:t>Езда по всевозможным “булочным”</a:t>
            </a:r>
            <a:r>
              <a:rPr lang="en" sz="1800">
                <a:latin typeface="Shantell Sans"/>
                <a:ea typeface="Shantell Sans"/>
                <a:cs typeface="Shantell Sans"/>
                <a:sym typeface="Shantell Sans"/>
              </a:rPr>
              <a:t> на личном авто должна стать экономически невыгодной, признаком нелояльности к среде и людям…Что нужно сделать для этого? Выскажу свое </a:t>
            </a:r>
            <a:r>
              <a:rPr b="1" lang="en" sz="1800">
                <a:latin typeface="Shantell Sans"/>
                <a:ea typeface="Shantell Sans"/>
                <a:cs typeface="Shantell Sans"/>
                <a:sym typeface="Shantell Sans"/>
              </a:rPr>
              <a:t>личное мнение</a:t>
            </a:r>
            <a:r>
              <a:rPr lang="en" sz="1800">
                <a:latin typeface="Shantell Sans"/>
                <a:ea typeface="Shantell Sans"/>
                <a:cs typeface="Shantell Sans"/>
                <a:sym typeface="Shantell Sans"/>
              </a:rPr>
              <a:t>…</a:t>
            </a:r>
            <a:endParaRPr sz="1800">
              <a:latin typeface="Shantell Sans"/>
              <a:ea typeface="Shantell Sans"/>
              <a:cs typeface="Shantell Sans"/>
              <a:sym typeface="Shantell Sans"/>
            </a:endParaRPr>
          </a:p>
        </p:txBody>
      </p:sp>
      <p:sp>
        <p:nvSpPr>
          <p:cNvPr id="347" name="Google Shape;347;p44"/>
          <p:cNvSpPr txBox="1"/>
          <p:nvPr/>
        </p:nvSpPr>
        <p:spPr>
          <a:xfrm>
            <a:off x="-75" y="2723700"/>
            <a:ext cx="91440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Qwen - 5:</a:t>
            </a:r>
            <a:r>
              <a:rPr lang="en" sz="1700"/>
              <a:t> видит</a:t>
            </a:r>
            <a:r>
              <a:rPr lang="en" sz="1700">
                <a:solidFill>
                  <a:srgbClr val="38761D"/>
                </a:solidFill>
              </a:rPr>
              <a:t> систематичный анализ</a:t>
            </a:r>
            <a:r>
              <a:rPr lang="en" sz="1700"/>
              <a:t>, </a:t>
            </a:r>
            <a:r>
              <a:rPr lang="en" sz="1700">
                <a:solidFill>
                  <a:srgbClr val="38761D"/>
                </a:solidFill>
              </a:rPr>
              <a:t>международный контекст</a:t>
            </a:r>
            <a:r>
              <a:rPr lang="en" sz="1700"/>
              <a:t>, </a:t>
            </a:r>
            <a:r>
              <a:rPr lang="en" sz="1700">
                <a:solidFill>
                  <a:srgbClr val="38761D"/>
                </a:solidFill>
              </a:rPr>
              <a:t>причинно-следственные связи и практические рекомендации</a:t>
            </a:r>
            <a:r>
              <a:rPr lang="en" sz="1700"/>
              <a:t>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GPT - 3:</a:t>
            </a:r>
            <a:r>
              <a:rPr lang="en" sz="1700"/>
              <a:t> признаёт </a:t>
            </a:r>
            <a:r>
              <a:rPr lang="en" sz="1700">
                <a:solidFill>
                  <a:srgbClr val="BF9000"/>
                </a:solidFill>
              </a:rPr>
              <a:t>содержательность</a:t>
            </a:r>
            <a:r>
              <a:rPr lang="en" sz="1700"/>
              <a:t>, но отмечает декларативность и </a:t>
            </a:r>
            <a:r>
              <a:rPr lang="en" sz="1700">
                <a:solidFill>
                  <a:srgbClr val="BF9000"/>
                </a:solidFill>
              </a:rPr>
              <a:t>недостаточное обоснование решений</a:t>
            </a:r>
            <a:r>
              <a:rPr lang="en" sz="1700"/>
              <a:t>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Gemini - 2:</a:t>
            </a:r>
            <a:r>
              <a:rPr lang="en" sz="1700"/>
              <a:t> считает материал полезной, </a:t>
            </a:r>
            <a:r>
              <a:rPr lang="en" sz="1700">
                <a:solidFill>
                  <a:srgbClr val="B45F06"/>
                </a:solidFill>
              </a:rPr>
              <a:t>но ограниченной по глубине</a:t>
            </a:r>
            <a:r>
              <a:rPr lang="en" sz="1700"/>
              <a:t> авторской колонкой.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DeepSeek - 1:</a:t>
            </a:r>
            <a:r>
              <a:rPr lang="en" sz="1700"/>
              <a:t> делает акцент на</a:t>
            </a:r>
            <a:r>
              <a:rPr lang="en" sz="1700">
                <a:solidFill>
                  <a:srgbClr val="990000"/>
                </a:solidFill>
              </a:rPr>
              <a:t> личном мнении</a:t>
            </a:r>
            <a:r>
              <a:rPr lang="en" sz="1700"/>
              <a:t> и </a:t>
            </a:r>
            <a:r>
              <a:rPr lang="en" sz="1700">
                <a:solidFill>
                  <a:srgbClr val="990000"/>
                </a:solidFill>
              </a:rPr>
              <a:t>отсутствии систематического обучения</a:t>
            </a:r>
            <a:r>
              <a:rPr lang="en" sz="1700"/>
              <a:t>.</a:t>
            </a:r>
            <a:endParaRPr sz="1700"/>
          </a:p>
        </p:txBody>
      </p:sp>
      <p:sp>
        <p:nvSpPr>
          <p:cNvPr id="348" name="Google Shape;348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Пример разногласия</a:t>
            </a:r>
            <a:endParaRPr/>
          </a:p>
        </p:txBody>
      </p:sp>
      <p:sp>
        <p:nvSpPr>
          <p:cNvPr id="354" name="Google Shape;354;p45"/>
          <p:cNvSpPr txBox="1"/>
          <p:nvPr/>
        </p:nvSpPr>
        <p:spPr>
          <a:xfrm>
            <a:off x="870775" y="724650"/>
            <a:ext cx="6795300" cy="16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700">
                <a:latin typeface="Shantell Sans"/>
                <a:ea typeface="Shantell Sans"/>
                <a:cs typeface="Shantell Sans"/>
                <a:sym typeface="Shantell Sans"/>
              </a:rPr>
              <a:t>JavaScript </a:t>
            </a: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- это </a:t>
            </a:r>
            <a:r>
              <a:rPr b="1" lang="en" sz="1700">
                <a:latin typeface="Shantell Sans"/>
                <a:ea typeface="Shantell Sans"/>
                <a:cs typeface="Shantell Sans"/>
                <a:sym typeface="Shantell Sans"/>
              </a:rPr>
              <a:t>язык программирования</a:t>
            </a: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, который используют для написания </a:t>
            </a:r>
            <a:r>
              <a:rPr b="1" lang="en" sz="1700">
                <a:latin typeface="Shantell Sans"/>
                <a:ea typeface="Shantell Sans"/>
                <a:cs typeface="Shantell Sans"/>
                <a:sym typeface="Shantell Sans"/>
              </a:rPr>
              <a:t>frontend- и backend-частей сайтов</a:t>
            </a: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, а также мобильных приложений … код JavaScript </a:t>
            </a:r>
            <a:r>
              <a:rPr b="1" lang="en" sz="1700">
                <a:latin typeface="Shantell Sans"/>
                <a:ea typeface="Shantell Sans"/>
                <a:cs typeface="Shantell Sans"/>
                <a:sym typeface="Shantell Sans"/>
              </a:rPr>
              <a:t>выполняется только в браузере</a:t>
            </a:r>
            <a:r>
              <a:rPr lang="en" sz="1700">
                <a:latin typeface="Shantell Sans"/>
                <a:ea typeface="Shantell Sans"/>
                <a:cs typeface="Shantell Sans"/>
                <a:sym typeface="Shantell Sans"/>
              </a:rPr>
              <a:t> ...</a:t>
            </a:r>
            <a:endParaRPr sz="1700">
              <a:latin typeface="Shantell Sans"/>
              <a:ea typeface="Shantell Sans"/>
              <a:cs typeface="Shantell Sans"/>
              <a:sym typeface="Shantell Sans"/>
            </a:endParaRPr>
          </a:p>
        </p:txBody>
      </p:sp>
      <p:sp>
        <p:nvSpPr>
          <p:cNvPr id="355" name="Google Shape;355;p45"/>
          <p:cNvSpPr txBox="1"/>
          <p:nvPr/>
        </p:nvSpPr>
        <p:spPr>
          <a:xfrm>
            <a:off x="-75" y="2723700"/>
            <a:ext cx="9144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Qwen - 4:</a:t>
            </a:r>
            <a:r>
              <a:rPr lang="en" sz="1700"/>
              <a:t> </a:t>
            </a:r>
            <a:r>
              <a:rPr lang="en" sz="1700">
                <a:solidFill>
                  <a:srgbClr val="38761D"/>
                </a:solidFill>
              </a:rPr>
              <a:t>разнообразие полезных сведений</a:t>
            </a:r>
            <a:r>
              <a:rPr lang="en" sz="1700"/>
              <a:t>, объяснение терминов и организация материала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GPT - 2:</a:t>
            </a:r>
            <a:r>
              <a:rPr lang="en" sz="1700"/>
              <a:t> </a:t>
            </a:r>
            <a:r>
              <a:rPr lang="en" sz="1700">
                <a:solidFill>
                  <a:srgbClr val="BF9000"/>
                </a:solidFill>
              </a:rPr>
              <a:t>фрагментарность </a:t>
            </a:r>
            <a:r>
              <a:rPr lang="en" sz="1700"/>
              <a:t>и </a:t>
            </a:r>
            <a:r>
              <a:rPr lang="en" sz="1700">
                <a:solidFill>
                  <a:srgbClr val="BF9000"/>
                </a:solidFill>
              </a:rPr>
              <a:t>поверхностность </a:t>
            </a:r>
            <a:r>
              <a:rPr lang="en" sz="1700"/>
              <a:t>объяснений</a:t>
            </a:r>
            <a:r>
              <a:rPr lang="en" sz="1700"/>
              <a:t>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Gemini - 2:</a:t>
            </a:r>
            <a:r>
              <a:rPr lang="en" sz="1700"/>
              <a:t> </a:t>
            </a:r>
            <a:r>
              <a:rPr lang="en" sz="1700">
                <a:solidFill>
                  <a:srgbClr val="990000"/>
                </a:solidFill>
              </a:rPr>
              <a:t>ошибка в </a:t>
            </a:r>
            <a:r>
              <a:rPr lang="en" sz="1700">
                <a:solidFill>
                  <a:srgbClr val="990000"/>
                </a:solidFill>
              </a:rPr>
              <a:t>утверждении</a:t>
            </a:r>
            <a:r>
              <a:rPr lang="en" sz="1700"/>
              <a:t> “только в браузере”.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DeepSeek - 1:</a:t>
            </a:r>
            <a:r>
              <a:rPr lang="en" sz="1700"/>
              <a:t> </a:t>
            </a:r>
            <a:r>
              <a:rPr lang="en" sz="1700"/>
              <a:t>считает текст </a:t>
            </a:r>
            <a:r>
              <a:rPr lang="en" sz="1700">
                <a:solidFill>
                  <a:srgbClr val="990000"/>
                </a:solidFill>
              </a:rPr>
              <a:t>ознакомительной заметкой без практических примеров</a:t>
            </a:r>
            <a:r>
              <a:rPr lang="en" sz="1700"/>
              <a:t>.</a:t>
            </a:r>
            <a:endParaRPr sz="1700"/>
          </a:p>
        </p:txBody>
      </p:sp>
      <p:sp>
        <p:nvSpPr>
          <p:cNvPr id="356" name="Google Shape;356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Основные результаты на данный момент</a:t>
            </a:r>
            <a:endParaRPr/>
          </a:p>
        </p:txBody>
      </p:sp>
      <p:sp>
        <p:nvSpPr>
          <p:cNvPr id="362" name="Google Shape;362;p46"/>
          <p:cNvSpPr txBox="1"/>
          <p:nvPr>
            <p:ph idx="1" type="body"/>
          </p:nvPr>
        </p:nvSpPr>
        <p:spPr>
          <a:xfrm>
            <a:off x="311700" y="618300"/>
            <a:ext cx="8520600" cy="39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Масштабируемая разметка:</a:t>
            </a:r>
            <a:r>
              <a:rPr lang="en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С помощью LLM и кластеризации получено 788 тематических классов, обучены компактные модели классификаторы и теггер.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Обработанная коллекция:</a:t>
            </a:r>
            <a:r>
              <a:rPr lang="en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35,6 млн русскоязычных документов с дополнительными характеристиками.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Доменный отбор:</a:t>
            </a:r>
            <a:r>
              <a:rPr lang="en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Возможность отбирать теги по доменам, проведен эксперимент для юридической тематики.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Edu:</a:t>
            </a:r>
            <a:r>
              <a:rPr lang="en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Оценки сильно зависят от модели и промпта. Согласие по ранжированию выше, чем </a:t>
            </a:r>
            <a:r>
              <a:rPr lang="en" sz="1600">
                <a:solidFill>
                  <a:schemeClr val="dk1"/>
                </a:solidFill>
              </a:rPr>
              <a:t>согласие по абсолютным значениям.</a:t>
            </a:r>
            <a:endParaRPr sz="2300"/>
          </a:p>
        </p:txBody>
      </p:sp>
      <p:sp>
        <p:nvSpPr>
          <p:cNvPr id="363" name="Google Shape;363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Промпт для сравнения образовательной ценности</a:t>
            </a:r>
            <a:endParaRPr/>
          </a:p>
        </p:txBody>
      </p:sp>
      <p:sp>
        <p:nvSpPr>
          <p:cNvPr id="369" name="Google Shape;369;p47"/>
          <p:cNvSpPr txBox="1"/>
          <p:nvPr/>
        </p:nvSpPr>
        <p:spPr>
          <a:xfrm>
            <a:off x="0" y="863250"/>
            <a:ext cx="48552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При оценке учитываются: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содержательность получаемых знаний;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объяснения, контекст и причинно-следственные связи;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глубина и систематичность;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возможность понять предмет или освоить метод.</a:t>
            </a:r>
            <a:endParaRPr sz="1800"/>
          </a:p>
        </p:txBody>
      </p:sp>
      <p:sp>
        <p:nvSpPr>
          <p:cNvPr id="370" name="Google Shape;370;p47"/>
          <p:cNvSpPr txBox="1"/>
          <p:nvPr/>
        </p:nvSpPr>
        <p:spPr>
          <a:xfrm>
            <a:off x="0" y="3264450"/>
            <a:ext cx="4905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Разрозненные факты, хороший стиль и сложная терминология сами по себе не повышают оценку. </a:t>
            </a:r>
            <a:endParaRPr sz="1800"/>
          </a:p>
        </p:txBody>
      </p:sp>
      <p:sp>
        <p:nvSpPr>
          <p:cNvPr id="371" name="Google Shape;371;p47"/>
          <p:cNvSpPr txBox="1"/>
          <p:nvPr/>
        </p:nvSpPr>
        <p:spPr>
          <a:xfrm>
            <a:off x="5325900" y="863250"/>
            <a:ext cx="38181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</a:t>
            </a:r>
            <a:r>
              <a:rPr lang="en"/>
              <a:t> - Содержательные знания практически отсутствуют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1</a:t>
            </a:r>
            <a:r>
              <a:rPr lang="en"/>
              <a:t> - Отдельные полезные сведения, почти без понимания темы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2</a:t>
            </a:r>
            <a:r>
              <a:rPr lang="en"/>
              <a:t> - Полезная связная информация, преимущественно поверхностная или справочная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3</a:t>
            </a:r>
            <a:r>
              <a:rPr lang="en"/>
              <a:t> - Содержательные знания, но ограниченная глубина или систематичность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4</a:t>
            </a:r>
            <a:r>
              <a:rPr lang="en"/>
              <a:t> - Существенные, связанные и достаточно глубокие знания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5</a:t>
            </a:r>
            <a:r>
              <a:rPr lang="en"/>
              <a:t> - Глубокий, хорошо организованный материал, дающий существенное понимание темы или обучающий методу</a:t>
            </a:r>
            <a:endParaRPr/>
          </a:p>
        </p:txBody>
      </p:sp>
      <p:sp>
        <p:nvSpPr>
          <p:cNvPr id="372" name="Google Shape;372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Согласие с исходной разметкой Qwen</a:t>
            </a:r>
            <a:endParaRPr/>
          </a:p>
        </p:txBody>
      </p:sp>
      <p:pic>
        <p:nvPicPr>
          <p:cNvPr id="378" name="Google Shape;37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1550" y="1598597"/>
            <a:ext cx="6900899" cy="19463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